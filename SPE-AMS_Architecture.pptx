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6537960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SPE-AMS  •  v1.2.2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138160" y="6537960"/>
            <a:ext cx="3520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SDSAJames / Inventory-Management-Software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SDSAJames/Inventory-Management-Software" TargetMode="External"/><Relationship Id="rId2" Type="http://schemas.openxmlformats.org/officeDocument/2006/relationships/hyperlink" Target="https://github.com/SDSAJames/Inventory-Management-Software/blob/main/Software%20Design%20Document.md" TargetMode="External"/><Relationship Id="rId3" Type="http://schemas.openxmlformats.org/officeDocument/2006/relationships/hyperlink" Target="https://github.com/SDSAJames/Inventory-Management-Software/blob/main/Technical%20Specification.md" TargetMode="External"/><Relationship Id="rId4" Type="http://schemas.openxmlformats.org/officeDocument/2006/relationships/hyperlink" Target="https://github.com/SDSAJames/Inventory-Management-Software/blob/main/PATCH_NOTES.md" TargetMode="Externa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>
              <a:gd name="adj" fmla="val 1067"/>
            </a:avLst>
          </a:prstGeom>
          <a:solidFill>
            <a:srgbClr val="0A2547"/>
          </a:solidFill>
          <a:ln w="12700">
            <a:solidFill>
              <a:srgbClr val="0A25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566928"/>
            <a:ext cx="530352" cy="530352"/>
          </a:xfrm>
          <a:prstGeom prst="hexagon">
            <a:avLst/>
          </a:prstGeom>
          <a:solidFill>
            <a:srgbClr val="1449D6"/>
          </a:solidFill>
          <a:ln w="10160">
            <a:solidFill>
              <a:srgbClr val="1449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94944" y="69494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67665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10" kern="0" dirty="0">
                <a:solidFill>
                  <a:srgbClr val="91B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REVIEW  /  SOFTWARE DESIGN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536192"/>
            <a:ext cx="681228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StarPlus Energy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Asset Management System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3063240"/>
            <a:ext cx="60807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CE7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SPE-AMS v1.2.2 — integrated view of the client, API, persistence, data exchange and asset state lifecycle.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13232" y="4178808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173D70"/>
          </a:solidFill>
          <a:ln w="12700">
            <a:solidFill>
              <a:srgbClr val="173D7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4187952"/>
            <a:ext cx="1344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E7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CLIENT–SERVER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267712" y="4178808"/>
            <a:ext cx="1389888" cy="310896"/>
          </a:xfrm>
          <a:prstGeom prst="roundRect">
            <a:avLst>
              <a:gd name="adj" fmla="val 23529"/>
            </a:avLst>
          </a:prstGeom>
          <a:solidFill>
            <a:srgbClr val="173D70"/>
          </a:solidFill>
          <a:ln w="12700">
            <a:solidFill>
              <a:srgbClr val="173D7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04288" y="4187952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E7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 SQLITE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794760" y="4178808"/>
            <a:ext cx="1481328" cy="310896"/>
          </a:xfrm>
          <a:prstGeom prst="roundRect">
            <a:avLst>
              <a:gd name="adj" fmla="val 23529"/>
            </a:avLst>
          </a:prstGeom>
          <a:solidFill>
            <a:srgbClr val="173D70"/>
          </a:solidFill>
          <a:ln w="12700">
            <a:solidFill>
              <a:srgbClr val="173D7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31336" y="4187952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E7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VALIDATED STATES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6035040"/>
            <a:ext cx="667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FB5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Repository: github.com/SDSAJames/Inventory-Management-Software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" y="6318504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FB5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basis: Software Design Document v1.2.2 • October 2026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818120" y="1005840"/>
            <a:ext cx="3310128" cy="1060704"/>
          </a:xfrm>
          <a:prstGeom prst="roundRect">
            <a:avLst>
              <a:gd name="adj" fmla="val 6897"/>
            </a:avLst>
          </a:prstGeom>
          <a:solidFill>
            <a:srgbClr val="12345D"/>
          </a:solidFill>
          <a:ln w="10160">
            <a:solidFill>
              <a:srgbClr val="2E548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18120" y="1005840"/>
            <a:ext cx="64008" cy="1060704"/>
          </a:xfrm>
          <a:prstGeom prst="rect">
            <a:avLst>
              <a:gd name="adj" fmla="val 114286"/>
            </a:avLst>
          </a:prstGeom>
          <a:solidFill>
            <a:srgbClr val="1449D6"/>
          </a:solidFill>
          <a:ln w="12700">
            <a:solidFill>
              <a:srgbClr val="1449D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19288" y="1152144"/>
            <a:ext cx="2971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Browser SPA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019288" y="1490472"/>
            <a:ext cx="294436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CE7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19 • Router 7 • State engine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454896" y="2103120"/>
            <a:ext cx="0" cy="338328"/>
          </a:xfrm>
          <a:prstGeom prst="line">
            <a:avLst/>
          </a:prstGeom>
          <a:noFill/>
          <a:ln w="25400">
            <a:solidFill>
              <a:srgbClr val="6EA0FF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818120" y="2487168"/>
            <a:ext cx="3310128" cy="1060704"/>
          </a:xfrm>
          <a:prstGeom prst="roundRect">
            <a:avLst>
              <a:gd name="adj" fmla="val 6897"/>
            </a:avLst>
          </a:prstGeom>
          <a:solidFill>
            <a:srgbClr val="12345D"/>
          </a:solidFill>
          <a:ln w="10160">
            <a:solidFill>
              <a:srgbClr val="2E548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18120" y="2487168"/>
            <a:ext cx="64008" cy="1060704"/>
          </a:xfrm>
          <a:prstGeom prst="rect">
            <a:avLst>
              <a:gd name="adj" fmla="val 114286"/>
            </a:avLst>
          </a:prstGeom>
          <a:solidFill>
            <a:srgbClr val="5E87F5"/>
          </a:solidFill>
          <a:ln w="12700">
            <a:solidFill>
              <a:srgbClr val="5E87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19288" y="2633472"/>
            <a:ext cx="2971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Express API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019288" y="2971800"/>
            <a:ext cx="294436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CE7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Node.js 22+ • Express 5 • /api/*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454896" y="3593592"/>
            <a:ext cx="0" cy="338328"/>
          </a:xfrm>
          <a:prstGeom prst="line">
            <a:avLst/>
          </a:prstGeom>
          <a:noFill/>
          <a:ln w="25400">
            <a:solidFill>
              <a:srgbClr val="6EA0FF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818120" y="3977640"/>
            <a:ext cx="3310128" cy="1060704"/>
          </a:xfrm>
          <a:prstGeom prst="roundRect">
            <a:avLst>
              <a:gd name="adj" fmla="val 6897"/>
            </a:avLst>
          </a:prstGeom>
          <a:solidFill>
            <a:srgbClr val="12345D"/>
          </a:solidFill>
          <a:ln w="10160">
            <a:solidFill>
              <a:srgbClr val="2E548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3977640"/>
            <a:ext cx="64008" cy="1060704"/>
          </a:xfrm>
          <a:prstGeom prst="rect">
            <a:avLst>
              <a:gd name="adj" fmla="val 11428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19288" y="4123944"/>
            <a:ext cx="2971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Shared persistence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019288" y="4462272"/>
            <a:ext cx="294436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CE7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 • WAL mode • inventory.db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7818120" y="5376672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E7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intranet host. Multiple workstations. One shared operational record.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1449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OVERVIEW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30352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A25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architecture in one minute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96926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SPE-AMS is an intranet-hosted custody portal: the browser provides workflow and file handling; the server mediates API access and shared persistence.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499616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499616"/>
            <a:ext cx="64008" cy="1463040"/>
          </a:xfrm>
          <a:prstGeom prst="rect">
            <a:avLst>
              <a:gd name="adj" fmla="val 114286"/>
            </a:avLst>
          </a:prstGeom>
          <a:solidFill>
            <a:srgbClr val="1449D6"/>
          </a:solidFill>
          <a:ln w="12700">
            <a:solidFill>
              <a:srgbClr val="1449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" y="1645920"/>
            <a:ext cx="749808" cy="228600"/>
          </a:xfrm>
          <a:prstGeom prst="roundRect">
            <a:avLst>
              <a:gd name="adj" fmla="val 32000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13816" y="1655064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449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</a:t>
            </a:r>
            <a:endParaRPr lang="en-US" sz="83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1938528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operational record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95528" y="2249424"/>
            <a:ext cx="31546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Asset masters, loan activity and ownership history are coordinated through a central Express service and SQLite database.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4343400" y="1499616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1499616"/>
            <a:ext cx="64008" cy="1463040"/>
          </a:xfrm>
          <a:prstGeom prst="rect">
            <a:avLst>
              <a:gd name="adj" fmla="val 11428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44568" y="1645920"/>
            <a:ext cx="694944" cy="228600"/>
          </a:xfrm>
          <a:prstGeom prst="roundRect">
            <a:avLst>
              <a:gd name="adj" fmla="val 32000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62856" y="165506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449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</a:t>
            </a:r>
            <a:endParaRPr lang="en-US" sz="830" dirty="0"/>
          </a:p>
        </p:txBody>
      </p:sp>
      <p:sp>
        <p:nvSpPr>
          <p:cNvPr id="15" name="Text 13"/>
          <p:cNvSpPr txBox="1"/>
          <p:nvPr/>
        </p:nvSpPr>
        <p:spPr>
          <a:xfrm>
            <a:off x="4544568" y="1938528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Rule-enforced custody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44568" y="2249424"/>
            <a:ext cx="31546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 exclusive asset states plus holder invariants and passive reconciliation keep asset status aligned with active loans.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8092440" y="1499616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92440" y="1499616"/>
            <a:ext cx="64008" cy="1463040"/>
          </a:xfrm>
          <a:prstGeom prst="rect">
            <a:avLst>
              <a:gd name="adj" fmla="val 1142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93608" y="1645920"/>
            <a:ext cx="841248" cy="228600"/>
          </a:xfrm>
          <a:prstGeom prst="roundRect">
            <a:avLst>
              <a:gd name="adj" fmla="val 32000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11896" y="1655064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449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EXCHANGE</a:t>
            </a:r>
            <a:endParaRPr lang="en-US" sz="830" dirty="0"/>
          </a:p>
        </p:txBody>
      </p:sp>
      <p:sp>
        <p:nvSpPr>
          <p:cNvPr id="21" name="Text 19"/>
          <p:cNvSpPr txBox="1"/>
          <p:nvPr/>
        </p:nvSpPr>
        <p:spPr>
          <a:xfrm>
            <a:off x="8293608" y="1938528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Spreadsheet interoperability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293608" y="2249424"/>
            <a:ext cx="31546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browser parses Excel-derived tab-delimited TXT and generates reference-format XLSX files with pre-import restore capability.</a:t>
            </a:r>
            <a:endParaRPr lang="en-US" sz="1120" dirty="0"/>
          </a:p>
        </p:txBody>
      </p:sp>
      <p:sp>
        <p:nvSpPr>
          <p:cNvPr id="23" name="Text 21"/>
          <p:cNvSpPr txBox="1"/>
          <p:nvPr/>
        </p:nvSpPr>
        <p:spPr>
          <a:xfrm>
            <a:off x="612648" y="34198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1449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BOUNDARIES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4360" y="3794760"/>
            <a:ext cx="349300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3794760"/>
            <a:ext cx="64008" cy="1234440"/>
          </a:xfrm>
          <a:prstGeom prst="rect">
            <a:avLst>
              <a:gd name="adj" fmla="val 114286"/>
            </a:avLst>
          </a:prstGeom>
          <a:solidFill>
            <a:srgbClr val="1449D6"/>
          </a:solidFill>
          <a:ln w="12700">
            <a:solidFill>
              <a:srgbClr val="1449D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95528" y="3941064"/>
            <a:ext cx="3154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 / presentation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95528" y="4279392"/>
            <a:ext cx="3127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routes, page components, form workflows, client-side import/export.</a:t>
            </a:r>
            <a:endParaRPr lang="en-US" sz="1070" dirty="0"/>
          </a:p>
        </p:txBody>
      </p:sp>
      <p:sp>
        <p:nvSpPr>
          <p:cNvPr id="28" name="Shape 26"/>
          <p:cNvSpPr/>
          <p:nvPr/>
        </p:nvSpPr>
        <p:spPr>
          <a:xfrm>
            <a:off x="4096512" y="4398264"/>
            <a:ext cx="411480" cy="0"/>
          </a:xfrm>
          <a:prstGeom prst="line">
            <a:avLst/>
          </a:prstGeom>
          <a:noFill/>
          <a:ln w="25400">
            <a:solidFill>
              <a:srgbClr val="1449D6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590288" y="3794760"/>
            <a:ext cx="3063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90288" y="3794760"/>
            <a:ext cx="64008" cy="1234440"/>
          </a:xfrm>
          <a:prstGeom prst="rect">
            <a:avLst>
              <a:gd name="adj" fmla="val 114286"/>
            </a:avLst>
          </a:prstGeom>
          <a:solidFill>
            <a:srgbClr val="1449D6"/>
          </a:solidFill>
          <a:ln w="12700">
            <a:solidFill>
              <a:srgbClr val="1449D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791456" y="3941064"/>
            <a:ext cx="27249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/ domain services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791456" y="4279392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Express routes, validation, transaction handling and asset/loan reconciliation.</a:t>
            </a:r>
            <a:endParaRPr lang="en-US" sz="1070" dirty="0"/>
          </a:p>
        </p:txBody>
      </p:sp>
      <p:sp>
        <p:nvSpPr>
          <p:cNvPr id="33" name="Shape 31"/>
          <p:cNvSpPr/>
          <p:nvPr/>
        </p:nvSpPr>
        <p:spPr>
          <a:xfrm>
            <a:off x="7699248" y="4398264"/>
            <a:ext cx="384048" cy="0"/>
          </a:xfrm>
          <a:prstGeom prst="line">
            <a:avLst/>
          </a:prstGeom>
          <a:noFill/>
          <a:ln w="25400">
            <a:solidFill>
              <a:srgbClr val="1449D6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138160" y="3794760"/>
            <a:ext cx="34107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38160" y="3794760"/>
            <a:ext cx="64008" cy="1234440"/>
          </a:xfrm>
          <a:prstGeom prst="rect">
            <a:avLst>
              <a:gd name="adj" fmla="val 11428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339328" y="3941064"/>
            <a:ext cx="30723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data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8339328" y="4279392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Embedded node:sqlite in WAL mode at server/data/inventory.db.</a:t>
            </a:r>
            <a:endParaRPr lang="en-US" sz="1070" dirty="0"/>
          </a:p>
        </p:txBody>
      </p:sp>
      <p:sp>
        <p:nvSpPr>
          <p:cNvPr id="38" name="Text 36"/>
          <p:cNvSpPr txBox="1"/>
          <p:nvPr/>
        </p:nvSpPr>
        <p:spPr>
          <a:xfrm>
            <a:off x="621792" y="551383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deployment: Node.js 22+ • Express 5 • port 5000 • no cloud/CDN/telemetry dependencies.</a:t>
            </a:r>
            <a:endParaRPr lang="en-US" sz="1120" dirty="0"/>
          </a:p>
        </p:txBody>
      </p:sp>
      <p:sp>
        <p:nvSpPr>
          <p:cNvPr id="39" name="Text 37"/>
          <p:cNvSpPr txBox="1"/>
          <p:nvPr/>
        </p:nvSpPr>
        <p:spPr>
          <a:xfrm>
            <a:off x="594360" y="6199632"/>
            <a:ext cx="10927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repository README; Technical Specification §1; Software Design Document §§1 and 3.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1449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ARCHITECTURE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30352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A25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Integrated production architecture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96926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runtime path follows the repository README and Technical Specification: browser → Express API → embedded SQLite.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1600200" cy="3493008"/>
          </a:xfrm>
          <a:prstGeom prst="roundRect">
            <a:avLst>
              <a:gd name="adj" fmla="val 4571"/>
            </a:avLst>
          </a:prstGeom>
          <a:solidFill>
            <a:srgbClr val="F1F6FF"/>
          </a:solidFill>
          <a:ln w="11430">
            <a:solidFill>
              <a:srgbClr val="CBD9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2376" y="166420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70" kern="0" dirty="0">
                <a:solidFill>
                  <a:srgbClr val="1449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CORPORATE LAN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49808" y="2057400"/>
            <a:ext cx="12344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C9D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203704"/>
            <a:ext cx="9326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Operator A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542032"/>
            <a:ext cx="9052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49808" y="2926080"/>
            <a:ext cx="12344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C9D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072384"/>
            <a:ext cx="9326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Operator B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410712"/>
            <a:ext cx="9052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3922776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Many clients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URL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87168" y="1481328"/>
            <a:ext cx="2907792" cy="3493008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87168" y="1481328"/>
            <a:ext cx="2907792" cy="438912"/>
          </a:xfrm>
          <a:prstGeom prst="rect">
            <a:avLst>
              <a:gd name="adj" fmla="val 16667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651760" y="16002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1449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 SPA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2670048" y="20574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19  •  React Router 7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670048" y="2532888"/>
            <a:ext cx="68580" cy="68580"/>
          </a:xfrm>
          <a:prstGeom prst="ellipse">
            <a:avLst/>
          </a:prstGeom>
          <a:solidFill>
            <a:srgbClr val="1449D6"/>
          </a:solidFill>
          <a:ln w="6350">
            <a:solidFill>
              <a:srgbClr val="1449D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816352" y="245059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Eight routes and reusable UI components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2670048" y="2871216"/>
            <a:ext cx="68580" cy="68580"/>
          </a:xfrm>
          <a:prstGeom prst="ellipse">
            <a:avLst/>
          </a:prstGeom>
          <a:solidFill>
            <a:srgbClr val="1449D6"/>
          </a:solidFill>
          <a:ln w="6350">
            <a:solidFill>
              <a:srgbClr val="1449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816352" y="2788920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useDb / API adapter and state integrity engine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2670048" y="3319272"/>
            <a:ext cx="68580" cy="68580"/>
          </a:xfrm>
          <a:prstGeom prst="ellipse">
            <a:avLst/>
          </a:prstGeom>
          <a:solidFill>
            <a:srgbClr val="10B981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816352" y="3236976"/>
            <a:ext cx="23500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LocalStorage cache / backup resilience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2670048" y="3694176"/>
            <a:ext cx="68580" cy="68580"/>
          </a:xfrm>
          <a:prstGeom prst="ellipse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816352" y="3611880"/>
            <a:ext cx="2350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TXT parser + client-side OpenXML XLSX generator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3191256" y="4453128"/>
            <a:ext cx="1536192" cy="256032"/>
          </a:xfrm>
          <a:prstGeom prst="roundRect">
            <a:avLst>
              <a:gd name="adj" fmla="val 2857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227832" y="44622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VITE 6 = BUILD TOOL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16168" y="1481328"/>
            <a:ext cx="3017520" cy="3493008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16168" y="1481328"/>
            <a:ext cx="3017520" cy="438912"/>
          </a:xfrm>
          <a:prstGeom prst="rect">
            <a:avLst>
              <a:gd name="adj" fmla="val 16667"/>
            </a:avLst>
          </a:prstGeom>
          <a:solidFill>
            <a:srgbClr val="0A2547"/>
          </a:solidFill>
          <a:ln w="12700">
            <a:solidFill>
              <a:srgbClr val="0A254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099048" y="1600200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INTRANET SERVER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6126480" y="20574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Node.js 22+  •  Express 5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126480" y="2414016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163056" y="2423160"/>
            <a:ext cx="1069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49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0.0.0.0:5000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126480" y="2889504"/>
            <a:ext cx="68580" cy="68580"/>
          </a:xfrm>
          <a:prstGeom prst="ellipse">
            <a:avLst/>
          </a:prstGeom>
          <a:solidFill>
            <a:srgbClr val="1449D6"/>
          </a:solidFill>
          <a:ln w="6350">
            <a:solidFill>
              <a:srgbClr val="1449D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272784" y="2807208"/>
            <a:ext cx="24323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 API: assets, loans, exchange, directory, stats, auth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6126480" y="3392424"/>
            <a:ext cx="68580" cy="68580"/>
          </a:xfrm>
          <a:prstGeom prst="ellipse">
            <a:avLst/>
          </a:prstGeom>
          <a:solidFill>
            <a:srgbClr val="1449D6"/>
          </a:solidFill>
          <a:ln w="6350">
            <a:solidFill>
              <a:srgbClr val="1449D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272784" y="331012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Serves built dist/ with SPA fallback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6126480" y="3758184"/>
            <a:ext cx="68580" cy="68580"/>
          </a:xfrm>
          <a:prstGeom prst="ellipse">
            <a:avLst/>
          </a:prstGeom>
          <a:solidFill>
            <a:srgbClr val="10B981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272784" y="3675888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Validates writes and reconciles asset / loan state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9427464" y="1993392"/>
            <a:ext cx="2167128" cy="2395728"/>
          </a:xfrm>
          <a:prstGeom prst="roundRect">
            <a:avLst>
              <a:gd name="adj" fmla="val 3376"/>
            </a:avLst>
          </a:prstGeom>
          <a:solidFill>
            <a:srgbClr val="EAF8F1"/>
          </a:solidFill>
          <a:ln w="11430">
            <a:solidFill>
              <a:srgbClr val="A8E3C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040112" y="2240280"/>
            <a:ext cx="932688" cy="502920"/>
          </a:xfrm>
          <a:prstGeom prst="can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619488" y="2880360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 SQLITE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9592056" y="32461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node:sqlite • WAL mode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9619488" y="3557016"/>
            <a:ext cx="17739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server/data/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inventory.db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167128" y="2880360"/>
            <a:ext cx="310896" cy="0"/>
          </a:xfrm>
          <a:prstGeom prst="line">
            <a:avLst/>
          </a:prstGeom>
          <a:noFill/>
          <a:ln w="24130">
            <a:solidFill>
              <a:srgbClr val="1449D6"/>
            </a:solidFill>
            <a:prstDash val="solid"/>
            <a:headEnd type="none"/>
            <a:tailEnd type="triangle"/>
          </a:ln>
        </p:spPr>
      </p:sp>
      <p:sp>
        <p:nvSpPr>
          <p:cNvPr id="46" name="Text 44"/>
          <p:cNvSpPr txBox="1"/>
          <p:nvPr/>
        </p:nvSpPr>
        <p:spPr>
          <a:xfrm>
            <a:off x="2148840" y="260604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49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394960" y="2871216"/>
            <a:ext cx="448056" cy="0"/>
          </a:xfrm>
          <a:prstGeom prst="line">
            <a:avLst/>
          </a:prstGeom>
          <a:noFill/>
          <a:ln w="27940">
            <a:solidFill>
              <a:srgbClr val="1449D6"/>
            </a:solidFill>
            <a:prstDash val="solid"/>
            <a:headEnd type="none"/>
            <a:tailEnd type="triangle"/>
          </a:ln>
        </p:spPr>
      </p:sp>
      <p:sp>
        <p:nvSpPr>
          <p:cNvPr id="48" name="Text 46"/>
          <p:cNvSpPr txBox="1"/>
          <p:nvPr/>
        </p:nvSpPr>
        <p:spPr>
          <a:xfrm>
            <a:off x="5367528" y="2359152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449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1449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/ response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8942832" y="3035808"/>
            <a:ext cx="457200" cy="0"/>
          </a:xfrm>
          <a:prstGeom prst="line">
            <a:avLst/>
          </a:prstGeom>
          <a:noFill/>
          <a:ln w="2667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50" name="Text 48"/>
          <p:cNvSpPr txBox="1"/>
          <p:nvPr/>
        </p:nvSpPr>
        <p:spPr>
          <a:xfrm>
            <a:off x="8942832" y="253288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</a:t>
            </a:r>
            <a:endParaRPr lang="en-US" sz="810" dirty="0"/>
          </a:p>
          <a:p>
            <a:pPr algn="ctr" indent="0" marL="0">
              <a:buNone/>
            </a:pPr>
            <a:r>
              <a:rPr lang="en-US" sz="81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/ write</a:t>
            </a:r>
            <a:endParaRPr lang="en-US" sz="810" dirty="0"/>
          </a:p>
        </p:txBody>
      </p:sp>
      <p:sp>
        <p:nvSpPr>
          <p:cNvPr id="51" name="Shape 49"/>
          <p:cNvSpPr/>
          <p:nvPr/>
        </p:nvSpPr>
        <p:spPr>
          <a:xfrm>
            <a:off x="594360" y="5257800"/>
            <a:ext cx="10972800" cy="484632"/>
          </a:xfrm>
          <a:prstGeom prst="roundRect">
            <a:avLst>
              <a:gd name="adj" fmla="val 15094"/>
            </a:avLst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68096" y="5376672"/>
            <a:ext cx="10625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BOUNDARY RULE  •  Browsers never open SQLite directly. Production reads and writes pass through the Express API; the browser cache is not the shared database.</a:t>
            </a:r>
            <a:endParaRPr lang="en-US" sz="1060" dirty="0"/>
          </a:p>
        </p:txBody>
      </p:sp>
      <p:sp>
        <p:nvSpPr>
          <p:cNvPr id="53" name="Text 51"/>
          <p:cNvSpPr txBox="1"/>
          <p:nvPr/>
        </p:nvSpPr>
        <p:spPr>
          <a:xfrm>
            <a:off x="594360" y="6199632"/>
            <a:ext cx="10927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README; Technical Specification §1 and §2; SDD §3. Documentation difference on local storage is called out on slide 13.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1449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CLIENT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30352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A25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Browser-side component architecture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96926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Client-side modules organize the operator workflows, validate asset-state rules, and handle spreadsheet files without external services.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03504" y="1517904"/>
            <a:ext cx="2788920" cy="411480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3504" y="1517904"/>
            <a:ext cx="2788920" cy="429768"/>
          </a:xfrm>
          <a:prstGeom prst="rect">
            <a:avLst>
              <a:gd name="adj" fmla="val 17021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6384" y="1636776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1449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084832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32888" y="2075688"/>
            <a:ext cx="649224" cy="210312"/>
          </a:xfrm>
          <a:prstGeom prst="roundRect">
            <a:avLst>
              <a:gd name="adj" fmla="val 3478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69464" y="2084832"/>
            <a:ext cx="5760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2478024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Asset Register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32888" y="2468880"/>
            <a:ext cx="649224" cy="210312"/>
          </a:xfrm>
          <a:prstGeom prst="roundRect">
            <a:avLst>
              <a:gd name="adj" fmla="val 3478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569464" y="2478024"/>
            <a:ext cx="5760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/assets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804672" y="2871216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Loans &amp; Custody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532888" y="2862072"/>
            <a:ext cx="649224" cy="210312"/>
          </a:xfrm>
          <a:prstGeom prst="roundRect">
            <a:avLst>
              <a:gd name="adj" fmla="val 3478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569464" y="2871216"/>
            <a:ext cx="5760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/loans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804672" y="3264408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&amp; Out Calendar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532888" y="3255264"/>
            <a:ext cx="649224" cy="210312"/>
          </a:xfrm>
          <a:prstGeom prst="roundRect">
            <a:avLst>
              <a:gd name="adj" fmla="val 3478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569464" y="3264408"/>
            <a:ext cx="5760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/calendar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3657600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Travelers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532888" y="3648456"/>
            <a:ext cx="649224" cy="210312"/>
          </a:xfrm>
          <a:prstGeom prst="roundRect">
            <a:avLst>
              <a:gd name="adj" fmla="val 3478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569464" y="3657600"/>
            <a:ext cx="5760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/business-travelers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804672" y="4050792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Directory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532888" y="4041648"/>
            <a:ext cx="649224" cy="210312"/>
          </a:xfrm>
          <a:prstGeom prst="roundRect">
            <a:avLst>
              <a:gd name="adj" fmla="val 3478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569464" y="4050792"/>
            <a:ext cx="5760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/directory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804672" y="4443984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Exchange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532888" y="4434840"/>
            <a:ext cx="649224" cy="210312"/>
          </a:xfrm>
          <a:prstGeom prst="roundRect">
            <a:avLst>
              <a:gd name="adj" fmla="val 3478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569464" y="4443984"/>
            <a:ext cx="5760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/exchange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804672" y="4837176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Patch History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532888" y="4828032"/>
            <a:ext cx="649224" cy="210312"/>
          </a:xfrm>
          <a:prstGeom prst="roundRect">
            <a:avLst>
              <a:gd name="adj" fmla="val 3478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569464" y="4837176"/>
            <a:ext cx="5760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/patch-history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675888" y="1517904"/>
            <a:ext cx="3749040" cy="411480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75888" y="1517904"/>
            <a:ext cx="3749040" cy="429768"/>
          </a:xfrm>
          <a:prstGeom prst="rect">
            <a:avLst>
              <a:gd name="adj" fmla="val 17021"/>
            </a:avLst>
          </a:prstGeom>
          <a:solidFill>
            <a:srgbClr val="0A2547"/>
          </a:solidFill>
          <a:ln w="12700">
            <a:solidFill>
              <a:srgbClr val="0A254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858768" y="1636776"/>
            <a:ext cx="3364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APP SERVICES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931920" y="2103120"/>
            <a:ext cx="32461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931920" y="2103120"/>
            <a:ext cx="64008" cy="749808"/>
          </a:xfrm>
          <a:prstGeom prst="rect">
            <a:avLst>
              <a:gd name="adj" fmla="val 114286"/>
            </a:avLst>
          </a:prstGeom>
          <a:solidFill>
            <a:srgbClr val="1449D6"/>
          </a:solidFill>
          <a:ln w="12700">
            <a:solidFill>
              <a:srgbClr val="1449D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133088" y="2249424"/>
            <a:ext cx="29077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AppShell / route composition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4133088" y="2587752"/>
            <a:ext cx="2880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navigation, page shell, modals and feedback.</a:t>
            </a:r>
            <a:endParaRPr lang="en-US" sz="960" dirty="0"/>
          </a:p>
        </p:txBody>
      </p:sp>
      <p:sp>
        <p:nvSpPr>
          <p:cNvPr id="39" name="Shape 37"/>
          <p:cNvSpPr/>
          <p:nvPr/>
        </p:nvSpPr>
        <p:spPr>
          <a:xfrm>
            <a:off x="3931920" y="2990088"/>
            <a:ext cx="32461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931920" y="2990088"/>
            <a:ext cx="64008" cy="749808"/>
          </a:xfrm>
          <a:prstGeom prst="rect">
            <a:avLst>
              <a:gd name="adj" fmla="val 114286"/>
            </a:avLst>
          </a:prstGeom>
          <a:solidFill>
            <a:srgbClr val="1449D6"/>
          </a:solidFill>
          <a:ln w="12700">
            <a:solidFill>
              <a:srgbClr val="1449D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133088" y="3136392"/>
            <a:ext cx="29077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useDb / API adapter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4133088" y="3474720"/>
            <a:ext cx="2880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 hook for data access and mutations; talks to /api endpoints.</a:t>
            </a:r>
            <a:endParaRPr lang="en-US" sz="960" dirty="0"/>
          </a:p>
        </p:txBody>
      </p:sp>
      <p:sp>
        <p:nvSpPr>
          <p:cNvPr id="43" name="Shape 41"/>
          <p:cNvSpPr/>
          <p:nvPr/>
        </p:nvSpPr>
        <p:spPr>
          <a:xfrm>
            <a:off x="3931920" y="3877056"/>
            <a:ext cx="32461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931920" y="3877056"/>
            <a:ext cx="64008" cy="749808"/>
          </a:xfrm>
          <a:prstGeom prst="rect">
            <a:avLst>
              <a:gd name="adj" fmla="val 11428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133088" y="4023360"/>
            <a:ext cx="29077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assetIntegrity.js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4133088" y="4361688"/>
            <a:ext cx="2880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enums, invariant validation, passive sync and ownership history.</a:t>
            </a:r>
            <a:endParaRPr lang="en-US" sz="960" dirty="0"/>
          </a:p>
        </p:txBody>
      </p:sp>
      <p:sp>
        <p:nvSpPr>
          <p:cNvPr id="47" name="Shape 45"/>
          <p:cNvSpPr/>
          <p:nvPr/>
        </p:nvSpPr>
        <p:spPr>
          <a:xfrm>
            <a:off x="3931920" y="4700016"/>
            <a:ext cx="32461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931920" y="4700016"/>
            <a:ext cx="64008" cy="749808"/>
          </a:xfrm>
          <a:prstGeom prst="rect">
            <a:avLst>
              <a:gd name="adj" fmla="val 1142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133088" y="4846320"/>
            <a:ext cx="29077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lib/db.js cache layer</a:t>
            </a:r>
            <a:endParaRPr lang="en-US" sz="1150" dirty="0"/>
          </a:p>
        </p:txBody>
      </p:sp>
      <p:sp>
        <p:nvSpPr>
          <p:cNvPr id="50" name="Text 48"/>
          <p:cNvSpPr txBox="1"/>
          <p:nvPr/>
        </p:nvSpPr>
        <p:spPr>
          <a:xfrm>
            <a:off x="4133088" y="5184648"/>
            <a:ext cx="2880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Browser-local snapshots / offline cache.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717536" y="1517904"/>
            <a:ext cx="3840480" cy="41148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717536" y="1517904"/>
            <a:ext cx="3840480" cy="429768"/>
          </a:xfrm>
          <a:prstGeom prst="rect">
            <a:avLst>
              <a:gd name="adj" fmla="val 17021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900416" y="1636776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1449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CLIENT-SIDE FILE TOOLING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991856" y="2103120"/>
            <a:ext cx="3300984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991856" y="2103120"/>
            <a:ext cx="64008" cy="1133856"/>
          </a:xfrm>
          <a:prstGeom prst="rect">
            <a:avLst>
              <a:gd name="adj" fmla="val 1142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8193024" y="2249424"/>
            <a:ext cx="29626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txtImport.js</a:t>
            </a:r>
            <a:endParaRPr lang="en-US" sz="1250" dirty="0"/>
          </a:p>
        </p:txBody>
      </p:sp>
      <p:sp>
        <p:nvSpPr>
          <p:cNvPr id="57" name="Text 55"/>
          <p:cNvSpPr txBox="1"/>
          <p:nvPr/>
        </p:nvSpPr>
        <p:spPr>
          <a:xfrm>
            <a:off x="8193024" y="2587752"/>
            <a:ext cx="293522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Reads tab-delimited TXT exported from Excel; strips BOM, detects file signatures, handles multiline quoted fields and normalizes dates.</a:t>
            </a:r>
            <a:endParaRPr lang="en-US" sz="980" dirty="0"/>
          </a:p>
        </p:txBody>
      </p:sp>
      <p:sp>
        <p:nvSpPr>
          <p:cNvPr id="58" name="Shape 56"/>
          <p:cNvSpPr/>
          <p:nvPr/>
        </p:nvSpPr>
        <p:spPr>
          <a:xfrm>
            <a:off x="7991856" y="3429000"/>
            <a:ext cx="3300984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991856" y="3429000"/>
            <a:ext cx="64008" cy="1133856"/>
          </a:xfrm>
          <a:prstGeom prst="rect">
            <a:avLst>
              <a:gd name="adj" fmla="val 114286"/>
            </a:avLst>
          </a:prstGeom>
          <a:solidFill>
            <a:srgbClr val="1449D6"/>
          </a:solidFill>
          <a:ln w="12700">
            <a:solidFill>
              <a:srgbClr val="1449D6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193024" y="3575304"/>
            <a:ext cx="29626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xlsx.js / OpenXML</a:t>
            </a:r>
            <a:endParaRPr lang="en-US" sz="1250" dirty="0"/>
          </a:p>
        </p:txBody>
      </p:sp>
      <p:sp>
        <p:nvSpPr>
          <p:cNvPr id="61" name="Text 59"/>
          <p:cNvSpPr txBox="1"/>
          <p:nvPr/>
        </p:nvSpPr>
        <p:spPr>
          <a:xfrm>
            <a:off x="8193024" y="3913632"/>
            <a:ext cx="293522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Builds reference-format .xlsx client-side; 19-column parity for equipment and loan workbooks.</a:t>
            </a:r>
            <a:endParaRPr lang="en-US" sz="980" dirty="0"/>
          </a:p>
        </p:txBody>
      </p:sp>
      <p:sp>
        <p:nvSpPr>
          <p:cNvPr id="62" name="Shape 60"/>
          <p:cNvSpPr/>
          <p:nvPr/>
        </p:nvSpPr>
        <p:spPr>
          <a:xfrm>
            <a:off x="7991856" y="4773168"/>
            <a:ext cx="3300984" cy="557784"/>
          </a:xfrm>
          <a:prstGeom prst="roundRect">
            <a:avLst>
              <a:gd name="adj" fmla="val 13115"/>
            </a:avLst>
          </a:prstGeom>
          <a:solidFill>
            <a:srgbClr val="F1F5F9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8129016" y="48828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remote fonts, CDN scripts or telemetry dependencies.</a:t>
            </a:r>
            <a:endParaRPr lang="en-US" sz="1000" dirty="0"/>
          </a:p>
        </p:txBody>
      </p:sp>
      <p:sp>
        <p:nvSpPr>
          <p:cNvPr id="64" name="Text 62"/>
          <p:cNvSpPr txBox="1"/>
          <p:nvPr/>
        </p:nvSpPr>
        <p:spPr>
          <a:xfrm>
            <a:off x="594360" y="6199632"/>
            <a:ext cx="10927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Technical Specification §2 and §6; SDD §§3 and 6. Vite 6 bundles the SPA at build time; it is not in the production request path.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1449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SERVER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30352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A25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surface, persistence and core records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96926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backend is intentionally compact: one Node/Express process serves the SPA and owns the embedded database.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03504" y="1517904"/>
            <a:ext cx="365760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19072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EXPRESS 5  /  Node.js 22+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084832"/>
            <a:ext cx="960120" cy="246888"/>
          </a:xfrm>
          <a:prstGeom prst="roundRect">
            <a:avLst>
              <a:gd name="adj" fmla="val 29630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2093976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49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 5000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22960" y="2487168"/>
            <a:ext cx="1051560" cy="228600"/>
          </a:xfrm>
          <a:prstGeom prst="roundRect">
            <a:avLst>
              <a:gd name="adj" fmla="val 32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" y="2496312"/>
            <a:ext cx="9784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/api/assets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2011680" y="2491740"/>
            <a:ext cx="1947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 CRUD, filtering and bulk operations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822960" y="2871216"/>
            <a:ext cx="1051560" cy="228600"/>
          </a:xfrm>
          <a:prstGeom prst="roundRect">
            <a:avLst>
              <a:gd name="adj" fmla="val 32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9536" y="2880360"/>
            <a:ext cx="9784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/api/loans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2011680" y="2875788"/>
            <a:ext cx="1947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Scheduled, active, overdue and returned custody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822960" y="3255264"/>
            <a:ext cx="1051560" cy="228600"/>
          </a:xfrm>
          <a:prstGeom prst="roundRect">
            <a:avLst>
              <a:gd name="adj" fmla="val 32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9536" y="3264408"/>
            <a:ext cx="9784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/api/exchange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2011680" y="3259836"/>
            <a:ext cx="1947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 commit, revert and export data access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822960" y="3639312"/>
            <a:ext cx="1051560" cy="228600"/>
          </a:xfrm>
          <a:prstGeom prst="roundRect">
            <a:avLst>
              <a:gd name="adj" fmla="val 32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9536" y="3648456"/>
            <a:ext cx="9784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/api/directory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2011680" y="3643884"/>
            <a:ext cx="1947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People, departments and facility references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822960" y="4023360"/>
            <a:ext cx="1051560" cy="228600"/>
          </a:xfrm>
          <a:prstGeom prst="roundRect">
            <a:avLst>
              <a:gd name="adj" fmla="val 32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9536" y="4032504"/>
            <a:ext cx="9784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/api/stats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2011680" y="4027932"/>
            <a:ext cx="1947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counters / health statistics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822960" y="4407408"/>
            <a:ext cx="1051560" cy="228600"/>
          </a:xfrm>
          <a:prstGeom prst="roundRect">
            <a:avLst>
              <a:gd name="adj" fmla="val 32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59536" y="4416552"/>
            <a:ext cx="9784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/api/auth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2011680" y="4411980"/>
            <a:ext cx="1947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Cookie-based authentication surface</a:t>
            </a:r>
            <a:endParaRPr lang="en-US" sz="920" dirty="0"/>
          </a:p>
        </p:txBody>
      </p:sp>
      <p:sp>
        <p:nvSpPr>
          <p:cNvPr id="27" name="Text 25"/>
          <p:cNvSpPr txBox="1"/>
          <p:nvPr/>
        </p:nvSpPr>
        <p:spPr>
          <a:xfrm>
            <a:off x="832104" y="4828032"/>
            <a:ext cx="31729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Also serves dist/ with an Express SPA fallback; /api/health reports system health and database stats.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4553712" y="1517904"/>
            <a:ext cx="3072384" cy="3611880"/>
          </a:xfrm>
          <a:prstGeom prst="roundRect">
            <a:avLst>
              <a:gd name="adj" fmla="val 2381"/>
            </a:avLst>
          </a:prstGeom>
          <a:solidFill>
            <a:srgbClr val="F1F6FF"/>
          </a:solidFill>
          <a:ln w="11430">
            <a:solidFill>
              <a:srgbClr val="C9D8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754880" y="1728216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49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/ RECONCILIATION PATH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73168" y="2194560"/>
            <a:ext cx="310896" cy="310896"/>
          </a:xfrm>
          <a:prstGeom prst="ellipse">
            <a:avLst/>
          </a:prstGeom>
          <a:solidFill>
            <a:srgbClr val="1449D6"/>
          </a:solidFill>
          <a:ln w="6350">
            <a:solidFill>
              <a:srgbClr val="1449D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773168" y="2199132"/>
            <a:ext cx="310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212080" y="221284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Receive API mutation</a:t>
            </a:r>
            <a:endParaRPr lang="en-US" sz="1010" dirty="0"/>
          </a:p>
        </p:txBody>
      </p:sp>
      <p:sp>
        <p:nvSpPr>
          <p:cNvPr id="33" name="Shape 31"/>
          <p:cNvSpPr/>
          <p:nvPr/>
        </p:nvSpPr>
        <p:spPr>
          <a:xfrm>
            <a:off x="4773168" y="2706624"/>
            <a:ext cx="310896" cy="310896"/>
          </a:xfrm>
          <a:prstGeom prst="ellipse">
            <a:avLst/>
          </a:prstGeom>
          <a:solidFill>
            <a:srgbClr val="1449D6"/>
          </a:solidFill>
          <a:ln w="6350">
            <a:solidFill>
              <a:srgbClr val="1449D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773168" y="2711196"/>
            <a:ext cx="310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212080" y="272491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request / domain rules</a:t>
            </a:r>
            <a:endParaRPr lang="en-US" sz="1010" dirty="0"/>
          </a:p>
        </p:txBody>
      </p:sp>
      <p:sp>
        <p:nvSpPr>
          <p:cNvPr id="36" name="Shape 34"/>
          <p:cNvSpPr/>
          <p:nvPr/>
        </p:nvSpPr>
        <p:spPr>
          <a:xfrm>
            <a:off x="4773168" y="3218688"/>
            <a:ext cx="310896" cy="310896"/>
          </a:xfrm>
          <a:prstGeom prst="ellipse">
            <a:avLst/>
          </a:prstGeom>
          <a:solidFill>
            <a:srgbClr val="1449D6"/>
          </a:solidFill>
          <a:ln w="6350">
            <a:solidFill>
              <a:srgbClr val="1449D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773168" y="3223260"/>
            <a:ext cx="310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5212080" y="323697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transactional database write</a:t>
            </a:r>
            <a:endParaRPr lang="en-US" sz="1010" dirty="0"/>
          </a:p>
        </p:txBody>
      </p:sp>
      <p:sp>
        <p:nvSpPr>
          <p:cNvPr id="39" name="Shape 37"/>
          <p:cNvSpPr/>
          <p:nvPr/>
        </p:nvSpPr>
        <p:spPr>
          <a:xfrm>
            <a:off x="4773168" y="3730752"/>
            <a:ext cx="310896" cy="310896"/>
          </a:xfrm>
          <a:prstGeom prst="ellipse">
            <a:avLst/>
          </a:prstGeom>
          <a:solidFill>
            <a:srgbClr val="1449D6"/>
          </a:solidFill>
          <a:ln w="6350">
            <a:solidFill>
              <a:srgbClr val="1449D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773168" y="3735324"/>
            <a:ext cx="310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5212080" y="374904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Reconcile assets against active loans</a:t>
            </a:r>
            <a:endParaRPr lang="en-US" sz="1010" dirty="0"/>
          </a:p>
        </p:txBody>
      </p:sp>
      <p:sp>
        <p:nvSpPr>
          <p:cNvPr id="42" name="Shape 40"/>
          <p:cNvSpPr/>
          <p:nvPr/>
        </p:nvSpPr>
        <p:spPr>
          <a:xfrm>
            <a:off x="4773168" y="4242816"/>
            <a:ext cx="310896" cy="310896"/>
          </a:xfrm>
          <a:prstGeom prst="ellipse">
            <a:avLst/>
          </a:prstGeom>
          <a:solidFill>
            <a:srgbClr val="1449D6"/>
          </a:solidFill>
          <a:ln w="6350">
            <a:solidFill>
              <a:srgbClr val="1449D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773168" y="4247388"/>
            <a:ext cx="310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5212080" y="426110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updated result to browser</a:t>
            </a:r>
            <a:endParaRPr lang="en-US" sz="1010" dirty="0"/>
          </a:p>
        </p:txBody>
      </p:sp>
      <p:sp>
        <p:nvSpPr>
          <p:cNvPr id="45" name="Shape 43"/>
          <p:cNvSpPr/>
          <p:nvPr/>
        </p:nvSpPr>
        <p:spPr>
          <a:xfrm>
            <a:off x="7927848" y="1517904"/>
            <a:ext cx="3648456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147304" y="1737360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90" kern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PERSISTENCE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284464" y="2139696"/>
            <a:ext cx="950976" cy="594360"/>
          </a:xfrm>
          <a:prstGeom prst="can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381744" y="2194560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 / node:sqlite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9390888" y="2514600"/>
            <a:ext cx="18653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 mode  •  server/data/inventory.db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165592" y="3035808"/>
            <a:ext cx="3154680" cy="1591056"/>
          </a:xfrm>
          <a:prstGeom prst="roundRect">
            <a:avLst>
              <a:gd name="adj" fmla="val 4598"/>
            </a:avLst>
          </a:prstGeom>
          <a:solidFill>
            <a:srgbClr val="F8FAFC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357616" y="320954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Asset master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9601200" y="3182112"/>
            <a:ext cx="1508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Code, status, owner, location, updated, ownershipHistory</a:t>
            </a:r>
            <a:endParaRPr lang="en-US" sz="910" dirty="0"/>
          </a:p>
        </p:txBody>
      </p:sp>
      <p:sp>
        <p:nvSpPr>
          <p:cNvPr id="53" name="Shape 51"/>
          <p:cNvSpPr/>
          <p:nvPr/>
        </p:nvSpPr>
        <p:spPr>
          <a:xfrm>
            <a:off x="8339328" y="3639312"/>
            <a:ext cx="2816352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54" name="Text 52"/>
          <p:cNvSpPr txBox="1"/>
          <p:nvPr/>
        </p:nvSpPr>
        <p:spPr>
          <a:xfrm>
            <a:off x="8357616" y="377647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Loan record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9601200" y="374904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Assignee, assetCode, pickup/return dates, status, accessories</a:t>
            </a:r>
            <a:endParaRPr lang="en-US" sz="910" dirty="0"/>
          </a:p>
        </p:txBody>
      </p:sp>
      <p:sp>
        <p:nvSpPr>
          <p:cNvPr id="56" name="Shape 54"/>
          <p:cNvSpPr/>
          <p:nvPr/>
        </p:nvSpPr>
        <p:spPr>
          <a:xfrm>
            <a:off x="621792" y="5413248"/>
            <a:ext cx="10936224" cy="448056"/>
          </a:xfrm>
          <a:prstGeom prst="roundRect">
            <a:avLst>
              <a:gd name="adj" fmla="val 16327"/>
            </a:avLst>
          </a:prstGeom>
          <a:solidFill>
            <a:srgbClr val="EAF8F1"/>
          </a:solidFill>
          <a:ln w="12700">
            <a:solidFill>
              <a:srgbClr val="D0F0DF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804672" y="5522976"/>
            <a:ext cx="10561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invariant: every asset has a stable master identity; custody events update status/holder and append history rather than replacing lineage.</a:t>
            </a:r>
            <a:endParaRPr lang="en-US" sz="1010" dirty="0"/>
          </a:p>
        </p:txBody>
      </p:sp>
      <p:sp>
        <p:nvSpPr>
          <p:cNvPr id="58" name="Text 56"/>
          <p:cNvSpPr txBox="1"/>
          <p:nvPr/>
        </p:nvSpPr>
        <p:spPr>
          <a:xfrm>
            <a:off x="594360" y="6199632"/>
            <a:ext cx="10927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README; Technical Specification §§1, 3 and 4. Production persistence path follows the centralized SQLite deployment description.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1449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APPLICATION MAP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30352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A25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Eight application views, one custody workflow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96926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UI is organized around the asset lifecycle—not around separate copies of spreadsheet data.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21792" y="1481328"/>
            <a:ext cx="532180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1709928"/>
            <a:ext cx="310896" cy="310896"/>
          </a:xfrm>
          <a:prstGeom prst="ellipse">
            <a:avLst/>
          </a:prstGeom>
          <a:solidFill>
            <a:srgbClr val="1449D6"/>
          </a:solidFill>
          <a:ln w="6350">
            <a:solidFill>
              <a:srgbClr val="1449D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6384" y="1714500"/>
            <a:ext cx="310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225296" y="159105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Dashboard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96512" y="1591056"/>
            <a:ext cx="1536192" cy="219456"/>
          </a:xfrm>
          <a:prstGeom prst="roundRect">
            <a:avLst>
              <a:gd name="adj" fmla="val 3333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33088" y="16002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1225296" y="1911096"/>
            <a:ext cx="4489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Fleet KPIs, issue signals and quick filtered lists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6236208" y="1481328"/>
            <a:ext cx="532180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1709928"/>
            <a:ext cx="310896" cy="310896"/>
          </a:xfrm>
          <a:prstGeom prst="ellipse">
            <a:avLst/>
          </a:prstGeom>
          <a:solidFill>
            <a:srgbClr val="1449D6"/>
          </a:solidFill>
          <a:ln w="6350">
            <a:solidFill>
              <a:srgbClr val="1449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1714500"/>
            <a:ext cx="310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839712" y="159105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Asset Register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710928" y="1591056"/>
            <a:ext cx="1536192" cy="219456"/>
          </a:xfrm>
          <a:prstGeom prst="roundRect">
            <a:avLst>
              <a:gd name="adj" fmla="val 3333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747504" y="16002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/assets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6839712" y="1911096"/>
            <a:ext cx="4489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 inventory, filters, batch updates and ownership transfer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621792" y="2542032"/>
            <a:ext cx="532180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" y="2770632"/>
            <a:ext cx="310896" cy="310896"/>
          </a:xfrm>
          <a:prstGeom prst="ellipse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6384" y="2775204"/>
            <a:ext cx="310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225296" y="265176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Loans &amp; Custody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096512" y="2651760"/>
            <a:ext cx="1536192" cy="219456"/>
          </a:xfrm>
          <a:prstGeom prst="roundRect">
            <a:avLst>
              <a:gd name="adj" fmla="val 3333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133088" y="26609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/loans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1225296" y="2971800"/>
            <a:ext cx="4489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Pickup, accessory checklist, overdue tracking and return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6236208" y="2542032"/>
            <a:ext cx="532180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0" y="2770632"/>
            <a:ext cx="310896" cy="310896"/>
          </a:xfrm>
          <a:prstGeom prst="ellipse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0" y="2775204"/>
            <a:ext cx="310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839712" y="265176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&amp; Out Calendar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710928" y="2651760"/>
            <a:ext cx="1536192" cy="219456"/>
          </a:xfrm>
          <a:prstGeom prst="roundRect">
            <a:avLst>
              <a:gd name="adj" fmla="val 3333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747504" y="26609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/calendar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6839712" y="2971800"/>
            <a:ext cx="4489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checkout / return schedule with requester filters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621792" y="3602736"/>
            <a:ext cx="532180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6384" y="3831336"/>
            <a:ext cx="310896" cy="310896"/>
          </a:xfrm>
          <a:prstGeom prst="ellipse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86384" y="3835908"/>
            <a:ext cx="310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1225296" y="371246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Travelers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096512" y="3712464"/>
            <a:ext cx="1536192" cy="219456"/>
          </a:xfrm>
          <a:prstGeom prst="roundRect">
            <a:avLst>
              <a:gd name="adj" fmla="val 3333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133088" y="37216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/business-travelers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1225296" y="4032504"/>
            <a:ext cx="4489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workforce roster, locations and trip custody</a:t>
            </a:r>
            <a:endParaRPr lang="en-US" sz="960" dirty="0"/>
          </a:p>
        </p:txBody>
      </p:sp>
      <p:sp>
        <p:nvSpPr>
          <p:cNvPr id="40" name="Shape 38"/>
          <p:cNvSpPr/>
          <p:nvPr/>
        </p:nvSpPr>
        <p:spPr>
          <a:xfrm>
            <a:off x="6236208" y="3602736"/>
            <a:ext cx="532180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00800" y="3831336"/>
            <a:ext cx="310896" cy="310896"/>
          </a:xfrm>
          <a:prstGeom prst="ellipse">
            <a:avLst/>
          </a:prstGeom>
          <a:solidFill>
            <a:srgbClr val="10B981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400800" y="3835908"/>
            <a:ext cx="310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6839712" y="371246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Directory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9710928" y="3712464"/>
            <a:ext cx="1536192" cy="219456"/>
          </a:xfrm>
          <a:prstGeom prst="roundRect">
            <a:avLst>
              <a:gd name="adj" fmla="val 3333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747504" y="37216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/directory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6839712" y="4032504"/>
            <a:ext cx="4489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Personnel, Knox IDs, departments and facility references</a:t>
            </a:r>
            <a:endParaRPr lang="en-US" sz="960" dirty="0"/>
          </a:p>
        </p:txBody>
      </p:sp>
      <p:sp>
        <p:nvSpPr>
          <p:cNvPr id="47" name="Shape 45"/>
          <p:cNvSpPr/>
          <p:nvPr/>
        </p:nvSpPr>
        <p:spPr>
          <a:xfrm>
            <a:off x="621792" y="4663440"/>
            <a:ext cx="532180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86384" y="4892040"/>
            <a:ext cx="310896" cy="310896"/>
          </a:xfrm>
          <a:prstGeom prst="ellipse">
            <a:avLst/>
          </a:prstGeom>
          <a:solidFill>
            <a:srgbClr val="8B5CF6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86384" y="4896612"/>
            <a:ext cx="310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1225296" y="477316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Exchange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096512" y="4773168"/>
            <a:ext cx="1536192" cy="219456"/>
          </a:xfrm>
          <a:prstGeom prst="roundRect">
            <a:avLst>
              <a:gd name="adj" fmla="val 3333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4133088" y="478231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/exchange</a:t>
            </a:r>
            <a:endParaRPr lang="en-US" sz="850" dirty="0"/>
          </a:p>
        </p:txBody>
      </p:sp>
      <p:sp>
        <p:nvSpPr>
          <p:cNvPr id="53" name="Text 51"/>
          <p:cNvSpPr txBox="1"/>
          <p:nvPr/>
        </p:nvSpPr>
        <p:spPr>
          <a:xfrm>
            <a:off x="1225296" y="5093208"/>
            <a:ext cx="4489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TXT import, pre-flight preview, XLSX export and rollback</a:t>
            </a:r>
            <a:endParaRPr lang="en-US" sz="960" dirty="0"/>
          </a:p>
        </p:txBody>
      </p:sp>
      <p:sp>
        <p:nvSpPr>
          <p:cNvPr id="54" name="Shape 52"/>
          <p:cNvSpPr/>
          <p:nvPr/>
        </p:nvSpPr>
        <p:spPr>
          <a:xfrm>
            <a:off x="6236208" y="4663440"/>
            <a:ext cx="532180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400800" y="4892040"/>
            <a:ext cx="310896" cy="310896"/>
          </a:xfrm>
          <a:prstGeom prst="ellipse">
            <a:avLst/>
          </a:prstGeom>
          <a:solidFill>
            <a:srgbClr val="64748B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400800" y="4896612"/>
            <a:ext cx="310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6839712" y="477316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Patch History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9710928" y="4773168"/>
            <a:ext cx="1536192" cy="219456"/>
          </a:xfrm>
          <a:prstGeom prst="roundRect">
            <a:avLst>
              <a:gd name="adj" fmla="val 3333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9747504" y="478231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/patch-history</a:t>
            </a:r>
            <a:endParaRPr lang="en-US" sz="850" dirty="0"/>
          </a:p>
        </p:txBody>
      </p:sp>
      <p:sp>
        <p:nvSpPr>
          <p:cNvPr id="60" name="Text 58"/>
          <p:cNvSpPr txBox="1"/>
          <p:nvPr/>
        </p:nvSpPr>
        <p:spPr>
          <a:xfrm>
            <a:off x="6839712" y="5093208"/>
            <a:ext cx="4489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Versioned release notes, keyword filtering and changelog</a:t>
            </a:r>
            <a:endParaRPr lang="en-US" sz="960" dirty="0"/>
          </a:p>
        </p:txBody>
      </p:sp>
      <p:sp>
        <p:nvSpPr>
          <p:cNvPr id="61" name="Text 59"/>
          <p:cNvSpPr txBox="1"/>
          <p:nvPr/>
        </p:nvSpPr>
        <p:spPr>
          <a:xfrm>
            <a:off x="649224" y="589788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49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Cross-cutting behavior</a:t>
            </a:r>
            <a:endParaRPr lang="en-US" sz="1000" dirty="0"/>
          </a:p>
        </p:txBody>
      </p:sp>
      <p:sp>
        <p:nvSpPr>
          <p:cNvPr id="62" name="Text 60"/>
          <p:cNvSpPr txBox="1"/>
          <p:nvPr/>
        </p:nvSpPr>
        <p:spPr>
          <a:xfrm>
            <a:off x="2304288" y="5879592"/>
            <a:ext cx="88879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Asset state validation • passive reconciliation • ownership history • release governance</a:t>
            </a:r>
            <a:endParaRPr lang="en-US" sz="1050" dirty="0"/>
          </a:p>
        </p:txBody>
      </p:sp>
      <p:sp>
        <p:nvSpPr>
          <p:cNvPr id="63" name="Text 61"/>
          <p:cNvSpPr txBox="1"/>
          <p:nvPr/>
        </p:nvSpPr>
        <p:spPr>
          <a:xfrm>
            <a:off x="594360" y="6199632"/>
            <a:ext cx="10927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SDD §7; repository README; Technical Specification §2.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1449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LIFECYCLE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30352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A25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State Transition Diagram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96926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six states and event labels follow State Schema v1.0.0 in the Software Design Document; a complete transition register follows.</a:t>
            </a:r>
            <a:endParaRPr lang="en-US" sz="1150" dirty="0"/>
          </a:p>
        </p:txBody>
      </p:sp>
      <p:pic>
        <p:nvPicPr>
          <p:cNvPr id="5" name="Image 0" descr="/mnt/data/state_machine_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53312"/>
            <a:ext cx="10927080" cy="46817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76656" y="5989320"/>
            <a:ext cx="10881360" cy="256032"/>
          </a:xfrm>
          <a:prstGeom prst="roundRect">
            <a:avLst>
              <a:gd name="adj" fmla="val 2857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6007608"/>
            <a:ext cx="10561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state: Retired is terminal. Damaged assets route to service; loan returns route to IT unless damage is recorded.</a:t>
            </a:r>
            <a:endParaRPr lang="en-US" sz="92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6199632"/>
            <a:ext cx="10927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Software Design Document §4.2; Technical Specification §4.1. Arrow labels are shortened here for readability; exact event wording appears on slide 8.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1449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LIFECYCLE RULES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30352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A25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Transition register: every permitted edge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96926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ledger with the state diagram. The document defines these transitions; it does not imply every pair of states can transition directly.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12648" y="1490472"/>
            <a:ext cx="1188720" cy="338328"/>
          </a:xfrm>
          <a:prstGeom prst="rect">
            <a:avLst>
              <a:gd name="adj" fmla="val 21622"/>
            </a:avLst>
          </a:prstGeom>
          <a:solidFill>
            <a:srgbClr val="0A2547"/>
          </a:solidFill>
          <a:ln w="6350">
            <a:solidFill>
              <a:srgbClr val="0A25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4088" y="150418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801368" y="1490472"/>
            <a:ext cx="3493008" cy="338328"/>
          </a:xfrm>
          <a:prstGeom prst="rect">
            <a:avLst>
              <a:gd name="adj" fmla="val 21622"/>
            </a:avLst>
          </a:prstGeom>
          <a:solidFill>
            <a:srgbClr val="0A2547"/>
          </a:solidFill>
          <a:ln w="6350">
            <a:solidFill>
              <a:srgbClr val="0A254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92808" y="1504188"/>
            <a:ext cx="3310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294376" y="1490472"/>
            <a:ext cx="731520" cy="338328"/>
          </a:xfrm>
          <a:prstGeom prst="rect">
            <a:avLst>
              <a:gd name="adj" fmla="val 21622"/>
            </a:avLst>
          </a:prstGeom>
          <a:solidFill>
            <a:srgbClr val="0A2547"/>
          </a:solidFill>
          <a:ln w="6350">
            <a:solidFill>
              <a:srgbClr val="0A254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85816" y="150418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12648" y="1828800"/>
            <a:ext cx="1188720" cy="301752"/>
          </a:xfrm>
          <a:prstGeom prst="rect">
            <a:avLst>
              <a:gd name="adj" fmla="val 2424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184251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Available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1801368" y="1828800"/>
            <a:ext cx="3493008" cy="301752"/>
          </a:xfrm>
          <a:prstGeom prst="rect">
            <a:avLst>
              <a:gd name="adj" fmla="val 2424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892808" y="1842516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 to employee / department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5294376" y="1828800"/>
            <a:ext cx="731520" cy="301752"/>
          </a:xfrm>
          <a:prstGeom prst="rect">
            <a:avLst>
              <a:gd name="adj" fmla="val 24242"/>
            </a:avLst>
          </a:prstGeom>
          <a:solidFill>
            <a:srgbClr val="EE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21808" y="1842516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1449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Assigned</a:t>
            </a:r>
            <a:endParaRPr lang="en-US" sz="810" dirty="0"/>
          </a:p>
        </p:txBody>
      </p:sp>
      <p:sp>
        <p:nvSpPr>
          <p:cNvPr id="17" name="Shape 15"/>
          <p:cNvSpPr/>
          <p:nvPr/>
        </p:nvSpPr>
        <p:spPr>
          <a:xfrm>
            <a:off x="612648" y="2130552"/>
            <a:ext cx="1188720" cy="301752"/>
          </a:xfrm>
          <a:prstGeom prst="rect">
            <a:avLst>
              <a:gd name="adj" fmla="val 24242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4088" y="21442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Available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1801368" y="2130552"/>
            <a:ext cx="3493008" cy="301752"/>
          </a:xfrm>
          <a:prstGeom prst="rect">
            <a:avLst>
              <a:gd name="adj" fmla="val 24242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892808" y="2144268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out on loan (pickup)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5294376" y="2130552"/>
            <a:ext cx="731520" cy="301752"/>
          </a:xfrm>
          <a:prstGeom prst="rect">
            <a:avLst>
              <a:gd name="adj" fmla="val 24242"/>
            </a:avLst>
          </a:prstGeom>
          <a:solidFill>
            <a:srgbClr val="FFF4D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321808" y="2144268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loan</a:t>
            </a:r>
            <a:endParaRPr lang="en-US" sz="810" dirty="0"/>
          </a:p>
        </p:txBody>
      </p:sp>
      <p:sp>
        <p:nvSpPr>
          <p:cNvPr id="23" name="Shape 21"/>
          <p:cNvSpPr/>
          <p:nvPr/>
        </p:nvSpPr>
        <p:spPr>
          <a:xfrm>
            <a:off x="612648" y="2432304"/>
            <a:ext cx="1188720" cy="301752"/>
          </a:xfrm>
          <a:prstGeom prst="rect">
            <a:avLst>
              <a:gd name="adj" fmla="val 2424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04088" y="24460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Available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1801368" y="2432304"/>
            <a:ext cx="3493008" cy="301752"/>
          </a:xfrm>
          <a:prstGeom prst="rect">
            <a:avLst>
              <a:gd name="adj" fmla="val 2424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892808" y="24460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Defect reported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5294376" y="2432304"/>
            <a:ext cx="731520" cy="301752"/>
          </a:xfrm>
          <a:prstGeom prst="rect">
            <a:avLst>
              <a:gd name="adj" fmla="val 24242"/>
            </a:avLst>
          </a:prstGeom>
          <a:solidFill>
            <a:srgbClr val="FFF0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321808" y="2446020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Damaged</a:t>
            </a:r>
            <a:endParaRPr lang="en-US" sz="810" dirty="0"/>
          </a:p>
        </p:txBody>
      </p:sp>
      <p:sp>
        <p:nvSpPr>
          <p:cNvPr id="29" name="Shape 27"/>
          <p:cNvSpPr/>
          <p:nvPr/>
        </p:nvSpPr>
        <p:spPr>
          <a:xfrm>
            <a:off x="612648" y="2734056"/>
            <a:ext cx="1188720" cy="301752"/>
          </a:xfrm>
          <a:prstGeom prst="rect">
            <a:avLst>
              <a:gd name="adj" fmla="val 24242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04088" y="27477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Available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1801368" y="2734056"/>
            <a:ext cx="3493008" cy="301752"/>
          </a:xfrm>
          <a:prstGeom prst="rect">
            <a:avLst>
              <a:gd name="adj" fmla="val 24242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892808" y="2747772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Decommissioned</a:t>
            </a:r>
            <a:endParaRPr lang="en-US" sz="840" dirty="0"/>
          </a:p>
        </p:txBody>
      </p:sp>
      <p:sp>
        <p:nvSpPr>
          <p:cNvPr id="33" name="Shape 31"/>
          <p:cNvSpPr/>
          <p:nvPr/>
        </p:nvSpPr>
        <p:spPr>
          <a:xfrm>
            <a:off x="5294376" y="2734056"/>
            <a:ext cx="731520" cy="301752"/>
          </a:xfrm>
          <a:prstGeom prst="rect">
            <a:avLst>
              <a:gd name="adj" fmla="val 24242"/>
            </a:avLst>
          </a:prstGeom>
          <a:solidFill>
            <a:srgbClr val="EEF2F6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321808" y="2747772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Retired</a:t>
            </a:r>
            <a:endParaRPr lang="en-US" sz="810" dirty="0"/>
          </a:p>
        </p:txBody>
      </p:sp>
      <p:sp>
        <p:nvSpPr>
          <p:cNvPr id="35" name="Shape 33"/>
          <p:cNvSpPr/>
          <p:nvPr/>
        </p:nvSpPr>
        <p:spPr>
          <a:xfrm>
            <a:off x="612648" y="3035808"/>
            <a:ext cx="1188720" cy="301752"/>
          </a:xfrm>
          <a:prstGeom prst="rect">
            <a:avLst>
              <a:gd name="adj" fmla="val 2424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04088" y="30495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Assigned</a:t>
            </a:r>
            <a:endParaRPr lang="en-US" sz="860" dirty="0"/>
          </a:p>
        </p:txBody>
      </p:sp>
      <p:sp>
        <p:nvSpPr>
          <p:cNvPr id="37" name="Shape 35"/>
          <p:cNvSpPr/>
          <p:nvPr/>
        </p:nvSpPr>
        <p:spPr>
          <a:xfrm>
            <a:off x="1801368" y="3035808"/>
            <a:ext cx="3493008" cy="301752"/>
          </a:xfrm>
          <a:prstGeom prst="rect">
            <a:avLst>
              <a:gd name="adj" fmla="val 2424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892808" y="3049524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to IT department</a:t>
            </a:r>
            <a:endParaRPr lang="en-US" sz="840" dirty="0"/>
          </a:p>
        </p:txBody>
      </p:sp>
      <p:sp>
        <p:nvSpPr>
          <p:cNvPr id="39" name="Shape 37"/>
          <p:cNvSpPr/>
          <p:nvPr/>
        </p:nvSpPr>
        <p:spPr>
          <a:xfrm>
            <a:off x="5294376" y="3035808"/>
            <a:ext cx="731520" cy="301752"/>
          </a:xfrm>
          <a:prstGeom prst="rect">
            <a:avLst>
              <a:gd name="adj" fmla="val 24242"/>
            </a:avLst>
          </a:prstGeom>
          <a:solidFill>
            <a:srgbClr val="E8F7E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321808" y="3049524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Available</a:t>
            </a:r>
            <a:endParaRPr lang="en-US" sz="810" dirty="0"/>
          </a:p>
        </p:txBody>
      </p:sp>
      <p:sp>
        <p:nvSpPr>
          <p:cNvPr id="41" name="Shape 39"/>
          <p:cNvSpPr/>
          <p:nvPr/>
        </p:nvSpPr>
        <p:spPr>
          <a:xfrm>
            <a:off x="612648" y="3337560"/>
            <a:ext cx="1188720" cy="301752"/>
          </a:xfrm>
          <a:prstGeom prst="rect">
            <a:avLst>
              <a:gd name="adj" fmla="val 24242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04088" y="335127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Assigned</a:t>
            </a:r>
            <a:endParaRPr lang="en-US" sz="860" dirty="0"/>
          </a:p>
        </p:txBody>
      </p:sp>
      <p:sp>
        <p:nvSpPr>
          <p:cNvPr id="43" name="Shape 41"/>
          <p:cNvSpPr/>
          <p:nvPr/>
        </p:nvSpPr>
        <p:spPr>
          <a:xfrm>
            <a:off x="1801368" y="3337560"/>
            <a:ext cx="3493008" cy="301752"/>
          </a:xfrm>
          <a:prstGeom prst="rect">
            <a:avLst>
              <a:gd name="adj" fmla="val 24242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892808" y="3351276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Handover to loan</a:t>
            </a:r>
            <a:endParaRPr lang="en-US" sz="840" dirty="0"/>
          </a:p>
        </p:txBody>
      </p:sp>
      <p:sp>
        <p:nvSpPr>
          <p:cNvPr id="45" name="Shape 43"/>
          <p:cNvSpPr/>
          <p:nvPr/>
        </p:nvSpPr>
        <p:spPr>
          <a:xfrm>
            <a:off x="5294376" y="3337560"/>
            <a:ext cx="731520" cy="301752"/>
          </a:xfrm>
          <a:prstGeom prst="rect">
            <a:avLst>
              <a:gd name="adj" fmla="val 24242"/>
            </a:avLst>
          </a:prstGeom>
          <a:solidFill>
            <a:srgbClr val="FFF4D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321808" y="3351276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loan</a:t>
            </a:r>
            <a:endParaRPr lang="en-US" sz="810" dirty="0"/>
          </a:p>
        </p:txBody>
      </p:sp>
      <p:sp>
        <p:nvSpPr>
          <p:cNvPr id="47" name="Shape 45"/>
          <p:cNvSpPr/>
          <p:nvPr/>
        </p:nvSpPr>
        <p:spPr>
          <a:xfrm>
            <a:off x="612648" y="3639312"/>
            <a:ext cx="1188720" cy="301752"/>
          </a:xfrm>
          <a:prstGeom prst="rect">
            <a:avLst>
              <a:gd name="adj" fmla="val 2424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04088" y="36530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Assigned</a:t>
            </a:r>
            <a:endParaRPr lang="en-US" sz="860" dirty="0"/>
          </a:p>
        </p:txBody>
      </p:sp>
      <p:sp>
        <p:nvSpPr>
          <p:cNvPr id="49" name="Shape 47"/>
          <p:cNvSpPr/>
          <p:nvPr/>
        </p:nvSpPr>
        <p:spPr>
          <a:xfrm>
            <a:off x="1801368" y="3639312"/>
            <a:ext cx="3493008" cy="301752"/>
          </a:xfrm>
          <a:prstGeom prst="rect">
            <a:avLst>
              <a:gd name="adj" fmla="val 2424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892808" y="3653028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Defect reported</a:t>
            </a:r>
            <a:endParaRPr lang="en-US" sz="840" dirty="0"/>
          </a:p>
        </p:txBody>
      </p:sp>
      <p:sp>
        <p:nvSpPr>
          <p:cNvPr id="51" name="Shape 49"/>
          <p:cNvSpPr/>
          <p:nvPr/>
        </p:nvSpPr>
        <p:spPr>
          <a:xfrm>
            <a:off x="5294376" y="3639312"/>
            <a:ext cx="731520" cy="301752"/>
          </a:xfrm>
          <a:prstGeom prst="rect">
            <a:avLst>
              <a:gd name="adj" fmla="val 24242"/>
            </a:avLst>
          </a:prstGeom>
          <a:solidFill>
            <a:srgbClr val="FFF0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321808" y="3653028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Damaged</a:t>
            </a:r>
            <a:endParaRPr lang="en-US" sz="810" dirty="0"/>
          </a:p>
        </p:txBody>
      </p:sp>
      <p:sp>
        <p:nvSpPr>
          <p:cNvPr id="53" name="Shape 51"/>
          <p:cNvSpPr/>
          <p:nvPr/>
        </p:nvSpPr>
        <p:spPr>
          <a:xfrm>
            <a:off x="612648" y="3941064"/>
            <a:ext cx="1188720" cy="301752"/>
          </a:xfrm>
          <a:prstGeom prst="rect">
            <a:avLst>
              <a:gd name="adj" fmla="val 24242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04088" y="39547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Assigned</a:t>
            </a:r>
            <a:endParaRPr lang="en-US" sz="860" dirty="0"/>
          </a:p>
        </p:txBody>
      </p:sp>
      <p:sp>
        <p:nvSpPr>
          <p:cNvPr id="55" name="Shape 53"/>
          <p:cNvSpPr/>
          <p:nvPr/>
        </p:nvSpPr>
        <p:spPr>
          <a:xfrm>
            <a:off x="1801368" y="3941064"/>
            <a:ext cx="3493008" cy="301752"/>
          </a:xfrm>
          <a:prstGeom prst="rect">
            <a:avLst>
              <a:gd name="adj" fmla="val 24242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1892808" y="395478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Maintenance</a:t>
            </a:r>
            <a:endParaRPr lang="en-US" sz="840" dirty="0"/>
          </a:p>
        </p:txBody>
      </p:sp>
      <p:sp>
        <p:nvSpPr>
          <p:cNvPr id="57" name="Shape 55"/>
          <p:cNvSpPr/>
          <p:nvPr/>
        </p:nvSpPr>
        <p:spPr>
          <a:xfrm>
            <a:off x="5294376" y="3941064"/>
            <a:ext cx="731520" cy="301752"/>
          </a:xfrm>
          <a:prstGeom prst="rect">
            <a:avLst>
              <a:gd name="adj" fmla="val 24242"/>
            </a:avLst>
          </a:prstGeom>
          <a:solidFill>
            <a:srgbClr val="F2EE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5321808" y="3954780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 repair</a:t>
            </a:r>
            <a:endParaRPr lang="en-US" sz="810" dirty="0"/>
          </a:p>
        </p:txBody>
      </p:sp>
      <p:sp>
        <p:nvSpPr>
          <p:cNvPr id="59" name="Shape 57"/>
          <p:cNvSpPr/>
          <p:nvPr/>
        </p:nvSpPr>
        <p:spPr>
          <a:xfrm>
            <a:off x="6199632" y="1490472"/>
            <a:ext cx="1188720" cy="338328"/>
          </a:xfrm>
          <a:prstGeom prst="rect">
            <a:avLst>
              <a:gd name="adj" fmla="val 21622"/>
            </a:avLst>
          </a:prstGeom>
          <a:solidFill>
            <a:srgbClr val="0A2547"/>
          </a:solidFill>
          <a:ln w="6350">
            <a:solidFill>
              <a:srgbClr val="0A2547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291072" y="150418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7388352" y="1490472"/>
            <a:ext cx="3447288" cy="338328"/>
          </a:xfrm>
          <a:prstGeom prst="rect">
            <a:avLst>
              <a:gd name="adj" fmla="val 21622"/>
            </a:avLst>
          </a:prstGeom>
          <a:solidFill>
            <a:srgbClr val="0A2547"/>
          </a:solidFill>
          <a:ln w="6350">
            <a:solidFill>
              <a:srgbClr val="0A2547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7479792" y="1504188"/>
            <a:ext cx="3264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10835640" y="1490472"/>
            <a:ext cx="731520" cy="338328"/>
          </a:xfrm>
          <a:prstGeom prst="rect">
            <a:avLst>
              <a:gd name="adj" fmla="val 21622"/>
            </a:avLst>
          </a:prstGeom>
          <a:solidFill>
            <a:srgbClr val="0A2547"/>
          </a:solidFill>
          <a:ln w="6350">
            <a:solidFill>
              <a:srgbClr val="0A2547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10927080" y="150418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6199632" y="1828800"/>
            <a:ext cx="1188720" cy="301752"/>
          </a:xfrm>
          <a:prstGeom prst="rect">
            <a:avLst>
              <a:gd name="adj" fmla="val 2424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6291072" y="184251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loan</a:t>
            </a:r>
            <a:endParaRPr lang="en-US" sz="860" dirty="0"/>
          </a:p>
        </p:txBody>
      </p:sp>
      <p:sp>
        <p:nvSpPr>
          <p:cNvPr id="67" name="Shape 65"/>
          <p:cNvSpPr/>
          <p:nvPr/>
        </p:nvSpPr>
        <p:spPr>
          <a:xfrm>
            <a:off x="7388352" y="1828800"/>
            <a:ext cx="3447288" cy="301752"/>
          </a:xfrm>
          <a:prstGeom prst="rect">
            <a:avLst>
              <a:gd name="adj" fmla="val 2424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7479792" y="1842516"/>
            <a:ext cx="3264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Loan returned (holder → IT)</a:t>
            </a:r>
            <a:endParaRPr lang="en-US" sz="840" dirty="0"/>
          </a:p>
        </p:txBody>
      </p:sp>
      <p:sp>
        <p:nvSpPr>
          <p:cNvPr id="69" name="Shape 67"/>
          <p:cNvSpPr/>
          <p:nvPr/>
        </p:nvSpPr>
        <p:spPr>
          <a:xfrm>
            <a:off x="10835640" y="1828800"/>
            <a:ext cx="731520" cy="301752"/>
          </a:xfrm>
          <a:prstGeom prst="rect">
            <a:avLst>
              <a:gd name="adj" fmla="val 24242"/>
            </a:avLst>
          </a:prstGeom>
          <a:solidFill>
            <a:srgbClr val="E8F7E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10863072" y="1842516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Available</a:t>
            </a:r>
            <a:endParaRPr lang="en-US" sz="810" dirty="0"/>
          </a:p>
        </p:txBody>
      </p:sp>
      <p:sp>
        <p:nvSpPr>
          <p:cNvPr id="71" name="Shape 69"/>
          <p:cNvSpPr/>
          <p:nvPr/>
        </p:nvSpPr>
        <p:spPr>
          <a:xfrm>
            <a:off x="6199632" y="2130552"/>
            <a:ext cx="1188720" cy="301752"/>
          </a:xfrm>
          <a:prstGeom prst="rect">
            <a:avLst>
              <a:gd name="adj" fmla="val 24242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6291072" y="21442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loan</a:t>
            </a:r>
            <a:endParaRPr lang="en-US" sz="860" dirty="0"/>
          </a:p>
        </p:txBody>
      </p:sp>
      <p:sp>
        <p:nvSpPr>
          <p:cNvPr id="73" name="Shape 71"/>
          <p:cNvSpPr/>
          <p:nvPr/>
        </p:nvSpPr>
        <p:spPr>
          <a:xfrm>
            <a:off x="7388352" y="2130552"/>
            <a:ext cx="3447288" cy="301752"/>
          </a:xfrm>
          <a:prstGeom prst="rect">
            <a:avLst>
              <a:gd name="adj" fmla="val 24242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7479792" y="2144268"/>
            <a:ext cx="3264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Defect on return</a:t>
            </a:r>
            <a:endParaRPr lang="en-US" sz="840" dirty="0"/>
          </a:p>
        </p:txBody>
      </p:sp>
      <p:sp>
        <p:nvSpPr>
          <p:cNvPr id="75" name="Shape 73"/>
          <p:cNvSpPr/>
          <p:nvPr/>
        </p:nvSpPr>
        <p:spPr>
          <a:xfrm>
            <a:off x="10835640" y="2130552"/>
            <a:ext cx="731520" cy="301752"/>
          </a:xfrm>
          <a:prstGeom prst="rect">
            <a:avLst>
              <a:gd name="adj" fmla="val 24242"/>
            </a:avLst>
          </a:prstGeom>
          <a:solidFill>
            <a:srgbClr val="FFF0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10863072" y="2144268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Damaged</a:t>
            </a:r>
            <a:endParaRPr lang="en-US" sz="810" dirty="0"/>
          </a:p>
        </p:txBody>
      </p:sp>
      <p:sp>
        <p:nvSpPr>
          <p:cNvPr id="77" name="Shape 75"/>
          <p:cNvSpPr/>
          <p:nvPr/>
        </p:nvSpPr>
        <p:spPr>
          <a:xfrm>
            <a:off x="6199632" y="2432304"/>
            <a:ext cx="1188720" cy="301752"/>
          </a:xfrm>
          <a:prstGeom prst="rect">
            <a:avLst>
              <a:gd name="adj" fmla="val 2424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6291072" y="24460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Damaged</a:t>
            </a:r>
            <a:endParaRPr lang="en-US" sz="860" dirty="0"/>
          </a:p>
        </p:txBody>
      </p:sp>
      <p:sp>
        <p:nvSpPr>
          <p:cNvPr id="79" name="Shape 77"/>
          <p:cNvSpPr/>
          <p:nvPr/>
        </p:nvSpPr>
        <p:spPr>
          <a:xfrm>
            <a:off x="7388352" y="2432304"/>
            <a:ext cx="3447288" cy="301752"/>
          </a:xfrm>
          <a:prstGeom prst="rect">
            <a:avLst>
              <a:gd name="adj" fmla="val 2424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7479792" y="2446020"/>
            <a:ext cx="3264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Sent for servicing</a:t>
            </a:r>
            <a:endParaRPr lang="en-US" sz="840" dirty="0"/>
          </a:p>
        </p:txBody>
      </p:sp>
      <p:sp>
        <p:nvSpPr>
          <p:cNvPr id="81" name="Shape 79"/>
          <p:cNvSpPr/>
          <p:nvPr/>
        </p:nvSpPr>
        <p:spPr>
          <a:xfrm>
            <a:off x="10835640" y="2432304"/>
            <a:ext cx="731520" cy="301752"/>
          </a:xfrm>
          <a:prstGeom prst="rect">
            <a:avLst>
              <a:gd name="adj" fmla="val 24242"/>
            </a:avLst>
          </a:prstGeom>
          <a:solidFill>
            <a:srgbClr val="F2EE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10863072" y="2446020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 repair</a:t>
            </a:r>
            <a:endParaRPr lang="en-US" sz="810" dirty="0"/>
          </a:p>
        </p:txBody>
      </p:sp>
      <p:sp>
        <p:nvSpPr>
          <p:cNvPr id="83" name="Shape 81"/>
          <p:cNvSpPr/>
          <p:nvPr/>
        </p:nvSpPr>
        <p:spPr>
          <a:xfrm>
            <a:off x="6199632" y="2734056"/>
            <a:ext cx="1188720" cy="301752"/>
          </a:xfrm>
          <a:prstGeom prst="rect">
            <a:avLst>
              <a:gd name="adj" fmla="val 24242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6291072" y="27477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 repair</a:t>
            </a:r>
            <a:endParaRPr lang="en-US" sz="860" dirty="0"/>
          </a:p>
        </p:txBody>
      </p:sp>
      <p:sp>
        <p:nvSpPr>
          <p:cNvPr id="85" name="Shape 83"/>
          <p:cNvSpPr/>
          <p:nvPr/>
        </p:nvSpPr>
        <p:spPr>
          <a:xfrm>
            <a:off x="7388352" y="2734056"/>
            <a:ext cx="3447288" cy="301752"/>
          </a:xfrm>
          <a:prstGeom prst="rect">
            <a:avLst>
              <a:gd name="adj" fmla="val 24242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7479792" y="2747772"/>
            <a:ext cx="3264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Repair completed (holder → IT)</a:t>
            </a:r>
            <a:endParaRPr lang="en-US" sz="840" dirty="0"/>
          </a:p>
        </p:txBody>
      </p:sp>
      <p:sp>
        <p:nvSpPr>
          <p:cNvPr id="87" name="Shape 85"/>
          <p:cNvSpPr/>
          <p:nvPr/>
        </p:nvSpPr>
        <p:spPr>
          <a:xfrm>
            <a:off x="10835640" y="2734056"/>
            <a:ext cx="731520" cy="301752"/>
          </a:xfrm>
          <a:prstGeom prst="rect">
            <a:avLst>
              <a:gd name="adj" fmla="val 24242"/>
            </a:avLst>
          </a:prstGeom>
          <a:solidFill>
            <a:srgbClr val="E8F7E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10863072" y="2747772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Available</a:t>
            </a:r>
            <a:endParaRPr lang="en-US" sz="810" dirty="0"/>
          </a:p>
        </p:txBody>
      </p:sp>
      <p:sp>
        <p:nvSpPr>
          <p:cNvPr id="89" name="Shape 87"/>
          <p:cNvSpPr/>
          <p:nvPr/>
        </p:nvSpPr>
        <p:spPr>
          <a:xfrm>
            <a:off x="6199632" y="3035808"/>
            <a:ext cx="1188720" cy="301752"/>
          </a:xfrm>
          <a:prstGeom prst="rect">
            <a:avLst>
              <a:gd name="adj" fmla="val 2424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6291072" y="30495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 repair</a:t>
            </a:r>
            <a:endParaRPr lang="en-US" sz="860" dirty="0"/>
          </a:p>
        </p:txBody>
      </p:sp>
      <p:sp>
        <p:nvSpPr>
          <p:cNvPr id="91" name="Shape 89"/>
          <p:cNvSpPr/>
          <p:nvPr/>
        </p:nvSpPr>
        <p:spPr>
          <a:xfrm>
            <a:off x="7388352" y="3035808"/>
            <a:ext cx="3447288" cy="301752"/>
          </a:xfrm>
          <a:prstGeom prst="rect">
            <a:avLst>
              <a:gd name="adj" fmla="val 2424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7479792" y="3049524"/>
            <a:ext cx="3264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Beyond economic repair</a:t>
            </a:r>
            <a:endParaRPr lang="en-US" sz="840" dirty="0"/>
          </a:p>
        </p:txBody>
      </p:sp>
      <p:sp>
        <p:nvSpPr>
          <p:cNvPr id="93" name="Shape 91"/>
          <p:cNvSpPr/>
          <p:nvPr/>
        </p:nvSpPr>
        <p:spPr>
          <a:xfrm>
            <a:off x="10835640" y="3035808"/>
            <a:ext cx="731520" cy="301752"/>
          </a:xfrm>
          <a:prstGeom prst="rect">
            <a:avLst>
              <a:gd name="adj" fmla="val 24242"/>
            </a:avLst>
          </a:prstGeom>
          <a:solidFill>
            <a:srgbClr val="EEF2F6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10863072" y="3049524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Retired</a:t>
            </a:r>
            <a:endParaRPr lang="en-US" sz="810" dirty="0"/>
          </a:p>
        </p:txBody>
      </p:sp>
      <p:sp>
        <p:nvSpPr>
          <p:cNvPr id="95" name="Shape 93"/>
          <p:cNvSpPr/>
          <p:nvPr/>
        </p:nvSpPr>
        <p:spPr>
          <a:xfrm>
            <a:off x="6199632" y="3630168"/>
            <a:ext cx="5367528" cy="1316736"/>
          </a:xfrm>
          <a:prstGeom prst="roundRect">
            <a:avLst>
              <a:gd name="adj" fmla="val 5556"/>
            </a:avLst>
          </a:prstGeom>
          <a:solidFill>
            <a:srgbClr val="F1F6FF"/>
          </a:solidFill>
          <a:ln w="11430">
            <a:solidFill>
              <a:srgbClr val="C9D8F0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6400800" y="3767328"/>
            <a:ext cx="4928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60" kern="0" dirty="0">
                <a:solidFill>
                  <a:srgbClr val="1449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CROSS-CUTTING GUARDS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6419088" y="4133088"/>
            <a:ext cx="68580" cy="68580"/>
          </a:xfrm>
          <a:prstGeom prst="ellipse">
            <a:avLst/>
          </a:prstGeom>
          <a:solidFill>
            <a:srgbClr val="1449D6"/>
          </a:solidFill>
          <a:ln w="6350">
            <a:solidFill>
              <a:srgbClr val="1449D6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6565392" y="4050792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Named non-IT holder → Assigned (or On loan if actively checked out).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6419088" y="4434840"/>
            <a:ext cx="68580" cy="68580"/>
          </a:xfrm>
          <a:prstGeom prst="ellipse">
            <a:avLst/>
          </a:prstGeom>
          <a:solidFill>
            <a:srgbClr val="10B981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6565392" y="4352544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Available → holder is IT department or blank.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6419088" y="4700016"/>
            <a:ext cx="68580" cy="68580"/>
          </a:xfrm>
          <a:prstGeom prst="ellipse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6565392" y="461772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to IT appends history; a damaged return stays Damaged.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640080" y="5239512"/>
            <a:ext cx="5385816" cy="612648"/>
          </a:xfrm>
          <a:prstGeom prst="roundRect">
            <a:avLst>
              <a:gd name="adj" fmla="val 11940"/>
            </a:avLst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813816" y="5358384"/>
            <a:ext cx="14264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49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→ Available</a:t>
            </a:r>
            <a:endParaRPr lang="en-US" sz="1000" dirty="0"/>
          </a:p>
        </p:txBody>
      </p:sp>
      <p:sp>
        <p:nvSpPr>
          <p:cNvPr id="105" name="Text 103"/>
          <p:cNvSpPr txBox="1"/>
          <p:nvPr/>
        </p:nvSpPr>
        <p:spPr>
          <a:xfrm>
            <a:off x="2286000" y="5358384"/>
            <a:ext cx="3337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Asset registered</a:t>
            </a:r>
            <a:endParaRPr lang="en-US" sz="970" dirty="0"/>
          </a:p>
        </p:txBody>
      </p:sp>
      <p:sp>
        <p:nvSpPr>
          <p:cNvPr id="106" name="Shape 104"/>
          <p:cNvSpPr/>
          <p:nvPr/>
        </p:nvSpPr>
        <p:spPr>
          <a:xfrm>
            <a:off x="6217920" y="5239512"/>
            <a:ext cx="5349240" cy="612648"/>
          </a:xfrm>
          <a:prstGeom prst="roundRect">
            <a:avLst>
              <a:gd name="adj" fmla="val 1194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6382512" y="5358384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Retired → End</a:t>
            </a:r>
            <a:endParaRPr lang="en-US" sz="1000" dirty="0"/>
          </a:p>
        </p:txBody>
      </p:sp>
      <p:sp>
        <p:nvSpPr>
          <p:cNvPr id="108" name="Text 106"/>
          <p:cNvSpPr txBox="1"/>
          <p:nvPr/>
        </p:nvSpPr>
        <p:spPr>
          <a:xfrm>
            <a:off x="7662672" y="5358384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Terminal / no outgoing state transition</a:t>
            </a:r>
            <a:endParaRPr lang="en-US" sz="950" dirty="0"/>
          </a:p>
        </p:txBody>
      </p:sp>
      <p:sp>
        <p:nvSpPr>
          <p:cNvPr id="109" name="Text 107"/>
          <p:cNvSpPr txBox="1"/>
          <p:nvPr/>
        </p:nvSpPr>
        <p:spPr>
          <a:xfrm>
            <a:off x="667512" y="5998464"/>
            <a:ext cx="10927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changes must also satisfy the holder invariant and the active-loan reconciliation rules.</a:t>
            </a:r>
            <a:endParaRPr lang="en-US" sz="1000" dirty="0"/>
          </a:p>
        </p:txBody>
      </p:sp>
      <p:sp>
        <p:nvSpPr>
          <p:cNvPr id="110" name="Text 108"/>
          <p:cNvSpPr txBox="1"/>
          <p:nvPr/>
        </p:nvSpPr>
        <p:spPr>
          <a:xfrm>
            <a:off x="594360" y="6199632"/>
            <a:ext cx="10927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Software Design Document §4.2. The state diagram is defined as a finite set of permitted transitions, not arbitrary status editing.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1449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CONSISTENCY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30352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A25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Invariant checks and passive reconciliation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96926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integrity service resolves conflicting asset and loan records without requiring an operator to start a manual sync.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12648" y="1508760"/>
            <a:ext cx="3749040" cy="4315968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0392" y="1728216"/>
            <a:ext cx="3264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1449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/ HOLDER INVARIANTS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59536" y="2093976"/>
            <a:ext cx="1124712" cy="246888"/>
          </a:xfrm>
          <a:prstGeom prst="roundRect">
            <a:avLst>
              <a:gd name="adj" fmla="val 29630"/>
            </a:avLst>
          </a:prstGeom>
          <a:solidFill>
            <a:srgbClr val="E8F7EF"/>
          </a:solidFill>
          <a:ln w="12700">
            <a:solidFill>
              <a:srgbClr val="E8F7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210312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Available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2139696" y="2084832"/>
            <a:ext cx="19385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Holder must be IT department or blank.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859536" y="2633472"/>
            <a:ext cx="1124712" cy="246888"/>
          </a:xfrm>
          <a:prstGeom prst="roundRect">
            <a:avLst>
              <a:gd name="adj" fmla="val 29630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96112" y="2642616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49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Assigned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2139696" y="2624328"/>
            <a:ext cx="19385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Must have a named employee or department holder.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859536" y="3172968"/>
            <a:ext cx="1124712" cy="246888"/>
          </a:xfrm>
          <a:prstGeom prst="roundRect">
            <a:avLst>
              <a:gd name="adj" fmla="val 29630"/>
            </a:avLst>
          </a:prstGeom>
          <a:solidFill>
            <a:srgbClr val="FFF4D9"/>
          </a:solidFill>
          <a:ln w="12700">
            <a:solidFill>
              <a:srgbClr val="FFF4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6112" y="318211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loan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2139696" y="3163824"/>
            <a:ext cx="19385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Holder and location must match the active loan assignee / loan record.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859536" y="3712464"/>
            <a:ext cx="1124712" cy="246888"/>
          </a:xfrm>
          <a:prstGeom prst="roundRect">
            <a:avLst>
              <a:gd name="adj" fmla="val 29630"/>
            </a:avLst>
          </a:prstGeom>
          <a:solidFill>
            <a:srgbClr val="FFF0F0"/>
          </a:solidFill>
          <a:ln w="12700">
            <a:solidFill>
              <a:srgbClr val="FFF0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96112" y="372160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Damaged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2139696" y="3703320"/>
            <a:ext cx="19385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Held by IT or reporting employee while awaiting evaluation.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859536" y="4251960"/>
            <a:ext cx="1124712" cy="246888"/>
          </a:xfrm>
          <a:prstGeom prst="roundRect">
            <a:avLst>
              <a:gd name="adj" fmla="val 29630"/>
            </a:avLst>
          </a:prstGeom>
          <a:solidFill>
            <a:srgbClr val="F2EEFF"/>
          </a:solidFill>
          <a:ln w="12700">
            <a:solidFill>
              <a:srgbClr val="F2EE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96112" y="4261104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 repair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2139696" y="4242816"/>
            <a:ext cx="19385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Holder is IT department or vendor.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859536" y="4791456"/>
            <a:ext cx="1124712" cy="246888"/>
          </a:xfrm>
          <a:prstGeom prst="roundRect">
            <a:avLst>
              <a:gd name="adj" fmla="val 2963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96112" y="480060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Retired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2139696" y="4782312"/>
            <a:ext cx="19385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Decommissioned asset remains in the archive for audit history.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4590288" y="1508760"/>
            <a:ext cx="6967728" cy="4315968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37176" y="1728216"/>
            <a:ext cx="6373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1449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RECONCILE ALL ASSETS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82896" y="2139696"/>
            <a:ext cx="6327648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038344" y="2212848"/>
            <a:ext cx="1490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Trigger</a:t>
            </a:r>
            <a:endParaRPr lang="en-US" sz="980" dirty="0"/>
          </a:p>
        </p:txBody>
      </p:sp>
      <p:sp>
        <p:nvSpPr>
          <p:cNvPr id="29" name="Text 27"/>
          <p:cNvSpPr txBox="1"/>
          <p:nvPr/>
        </p:nvSpPr>
        <p:spPr>
          <a:xfrm>
            <a:off x="6629400" y="2203704"/>
            <a:ext cx="4407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 initialization or state mutation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046720" y="2642616"/>
            <a:ext cx="0" cy="118872"/>
          </a:xfrm>
          <a:prstGeom prst="line">
            <a:avLst/>
          </a:prstGeom>
          <a:noFill/>
          <a:ln w="13970">
            <a:solidFill>
              <a:srgbClr val="1449D6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882896" y="2779776"/>
            <a:ext cx="6327648" cy="502920"/>
          </a:xfrm>
          <a:prstGeom prst="roundRect">
            <a:avLst>
              <a:gd name="adj" fmla="val 14545"/>
            </a:avLst>
          </a:prstGeom>
          <a:solidFill>
            <a:srgbClr val="FFF4D9"/>
          </a:solidFill>
          <a:ln w="8890">
            <a:solidFill>
              <a:srgbClr val="F5D58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038344" y="2852928"/>
            <a:ext cx="1490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 picked-up loan?</a:t>
            </a:r>
            <a:endParaRPr lang="en-US" sz="980" dirty="0"/>
          </a:p>
        </p:txBody>
      </p:sp>
      <p:sp>
        <p:nvSpPr>
          <p:cNvPr id="33" name="Text 31"/>
          <p:cNvSpPr txBox="1"/>
          <p:nvPr/>
        </p:nvSpPr>
        <p:spPr>
          <a:xfrm>
            <a:off x="6629400" y="2843784"/>
            <a:ext cx="4407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 → enforce On loan + loan holder + loan location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046720" y="3282696"/>
            <a:ext cx="0" cy="118872"/>
          </a:xfrm>
          <a:prstGeom prst="line">
            <a:avLst/>
          </a:prstGeom>
          <a:noFill/>
          <a:ln w="13970">
            <a:solidFill>
              <a:srgbClr val="1449D6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4882896" y="3419856"/>
            <a:ext cx="6327648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038344" y="3493008"/>
            <a:ext cx="1490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active loan</a:t>
            </a:r>
            <a:endParaRPr lang="en-US" sz="980" dirty="0"/>
          </a:p>
        </p:txBody>
      </p:sp>
      <p:sp>
        <p:nvSpPr>
          <p:cNvPr id="37" name="Text 35"/>
          <p:cNvSpPr txBox="1"/>
          <p:nvPr/>
        </p:nvSpPr>
        <p:spPr>
          <a:xfrm>
            <a:off x="6629400" y="3483864"/>
            <a:ext cx="4407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prior On loan: restore Assigned for employee holder; otherwise Available / IT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046720" y="3922776"/>
            <a:ext cx="0" cy="118872"/>
          </a:xfrm>
          <a:prstGeom prst="line">
            <a:avLst/>
          </a:prstGeom>
          <a:noFill/>
          <a:ln w="13970">
            <a:solidFill>
              <a:srgbClr val="1449D6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4882896" y="4059936"/>
            <a:ext cx="6327648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038344" y="4133088"/>
            <a:ext cx="1490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 records</a:t>
            </a:r>
            <a:endParaRPr lang="en-US" sz="980" dirty="0"/>
          </a:p>
        </p:txBody>
      </p:sp>
      <p:sp>
        <p:nvSpPr>
          <p:cNvPr id="41" name="Text 39"/>
          <p:cNvSpPr txBox="1"/>
          <p:nvPr/>
        </p:nvSpPr>
        <p:spPr>
          <a:xfrm>
            <a:off x="6629400" y="4123944"/>
            <a:ext cx="4407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 legacy “pool” values; repair status / holder mismatches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046720" y="4562856"/>
            <a:ext cx="0" cy="118872"/>
          </a:xfrm>
          <a:prstGeom prst="line">
            <a:avLst/>
          </a:prstGeom>
          <a:noFill/>
          <a:ln w="13970">
            <a:solidFill>
              <a:srgbClr val="1449D6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4882896" y="4700016"/>
            <a:ext cx="6327648" cy="502920"/>
          </a:xfrm>
          <a:prstGeom prst="roundRect">
            <a:avLst>
              <a:gd name="adj" fmla="val 14545"/>
            </a:avLst>
          </a:prstGeom>
          <a:solidFill>
            <a:srgbClr val="E8F7EF"/>
          </a:solidFill>
          <a:ln w="8890">
            <a:solidFill>
              <a:srgbClr val="BCE8D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038344" y="4773168"/>
            <a:ext cx="1490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 reconciled state</a:t>
            </a:r>
            <a:endParaRPr lang="en-US" sz="980" dirty="0"/>
          </a:p>
        </p:txBody>
      </p:sp>
      <p:sp>
        <p:nvSpPr>
          <p:cNvPr id="45" name="Text 43"/>
          <p:cNvSpPr txBox="1"/>
          <p:nvPr/>
        </p:nvSpPr>
        <p:spPr>
          <a:xfrm>
            <a:off x="6629400" y="4764024"/>
            <a:ext cx="4407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Continue with consistent asset and loan records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40080" y="5980176"/>
            <a:ext cx="10917936" cy="256032"/>
          </a:xfrm>
          <a:prstGeom prst="roundRect">
            <a:avLst>
              <a:gd name="adj" fmla="val 28571"/>
            </a:avLst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22960" y="6007608"/>
            <a:ext cx="10543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Exception: a returned asset flagged as Damaged does not automatically become Available.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594360" y="6199632"/>
            <a:ext cx="10927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SDD §4.3; Technical Specification §4.2. Storage wording differs across documents; see slide 13.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1449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CUSTODY LINEAGE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30352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A25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Returns and transfers preserve the audit trail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96926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Asset identity is durable: the holder can change, but the master record and chronological ownership history remain.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234440" y="2496312"/>
            <a:ext cx="9464040" cy="0"/>
          </a:xfrm>
          <a:prstGeom prst="line">
            <a:avLst/>
          </a:prstGeom>
          <a:noFill/>
          <a:ln w="3302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097280" y="2286000"/>
            <a:ext cx="438912" cy="438912"/>
          </a:xfrm>
          <a:prstGeom prst="ellipse">
            <a:avLst/>
          </a:prstGeom>
          <a:solidFill>
            <a:srgbClr val="10B98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35915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7830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Available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92608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department</a:t>
            </a:r>
            <a:endParaRPr lang="en-US" sz="940" dirty="0"/>
          </a:p>
        </p:txBody>
      </p:sp>
      <p:sp>
        <p:nvSpPr>
          <p:cNvPr id="10" name="Text 8"/>
          <p:cNvSpPr txBox="1"/>
          <p:nvPr/>
        </p:nvSpPr>
        <p:spPr>
          <a:xfrm>
            <a:off x="475488" y="3236976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Asset registered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returned to fleet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3767328" y="2286000"/>
            <a:ext cx="438912" cy="438912"/>
          </a:xfrm>
          <a:prstGeom prst="ellipse">
            <a:avLst/>
          </a:prstGeom>
          <a:solidFill>
            <a:srgbClr val="1449D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67328" y="235915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355848" y="17830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Assigned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292608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449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Named holder</a:t>
            </a:r>
            <a:endParaRPr lang="en-US" sz="940" dirty="0"/>
          </a:p>
        </p:txBody>
      </p:sp>
      <p:sp>
        <p:nvSpPr>
          <p:cNvPr id="15" name="Text 13"/>
          <p:cNvSpPr txBox="1"/>
          <p:nvPr/>
        </p:nvSpPr>
        <p:spPr>
          <a:xfrm>
            <a:off x="3145536" y="3236976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 / department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receives asset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6437376" y="2286000"/>
            <a:ext cx="438912" cy="438912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37376" y="235915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025896" y="17830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loan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961888" y="292608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 loan assignee</a:t>
            </a:r>
            <a:endParaRPr lang="en-US" sz="940" dirty="0"/>
          </a:p>
        </p:txBody>
      </p:sp>
      <p:sp>
        <p:nvSpPr>
          <p:cNvPr id="20" name="Text 18"/>
          <p:cNvSpPr txBox="1"/>
          <p:nvPr/>
        </p:nvSpPr>
        <p:spPr>
          <a:xfrm>
            <a:off x="5815584" y="3236976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Pickup, due date and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accessory checklist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9107424" y="2286000"/>
            <a:ext cx="438912" cy="438912"/>
          </a:xfrm>
          <a:prstGeom prst="ellipse">
            <a:avLst/>
          </a:prstGeom>
          <a:solidFill>
            <a:srgbClr val="10B98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07424" y="235915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695944" y="17830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to IT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631936" y="292608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Holder becomes IT</a:t>
            </a:r>
            <a:endParaRPr lang="en-US" sz="940" dirty="0"/>
          </a:p>
        </p:txBody>
      </p:sp>
      <p:sp>
        <p:nvSpPr>
          <p:cNvPr id="25" name="Text 23"/>
          <p:cNvSpPr txBox="1"/>
          <p:nvPr/>
        </p:nvSpPr>
        <p:spPr>
          <a:xfrm>
            <a:off x="8485632" y="3236976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 loan; status Available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unless damaged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640080" y="4233672"/>
            <a:ext cx="6748272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68680" y="441655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1449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OWNERSHIP HISTORY ENTRY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886968" y="4764024"/>
            <a:ext cx="11704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previousOwner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886968" y="493776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 custodian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2926080" y="4764024"/>
            <a:ext cx="11704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newOwner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2926080" y="493776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Incoming holder / IT department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4965192" y="4764024"/>
            <a:ext cx="11704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4965192" y="493776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Timestamp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886968" y="5202936"/>
            <a:ext cx="11704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886968" y="537667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/ return reason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2926080" y="5202936"/>
            <a:ext cx="11704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notes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2926080" y="537667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context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644384" y="4233672"/>
            <a:ext cx="3913632" cy="1508760"/>
          </a:xfrm>
          <a:prstGeom prst="roundRect">
            <a:avLst>
              <a:gd name="adj" fmla="val 4848"/>
            </a:avLst>
          </a:prstGeom>
          <a:solidFill>
            <a:srgbClr val="E8F7EF"/>
          </a:solidFill>
          <a:ln w="11430">
            <a:solidFill>
              <a:srgbClr val="BCE8D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872984" y="4425696"/>
            <a:ext cx="3447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87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RETURN-TO-IT GUARANTEE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7882128" y="4745736"/>
            <a:ext cx="3291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Set holder = IT department</a:t>
            </a:r>
            <a:endParaRPr lang="en-US" sz="1030" dirty="0"/>
          </a:p>
          <a:p>
            <a:pPr algn="l" indent="0" marL="0">
              <a:buNone/>
            </a:pPr>
            <a:r>
              <a:rPr lang="en-US" sz="1030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Clear assigned department</a:t>
            </a:r>
            <a:endParaRPr lang="en-US" sz="1030" dirty="0"/>
          </a:p>
          <a:p>
            <a:pPr algn="l" indent="0" marL="0">
              <a:buNone/>
            </a:pPr>
            <a:r>
              <a:rPr lang="en-US" sz="1030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Set Available unless Damaged</a:t>
            </a:r>
            <a:endParaRPr lang="en-US" sz="1030" dirty="0"/>
          </a:p>
          <a:p>
            <a:pPr algn="l" indent="0" marL="0">
              <a:buNone/>
            </a:pPr>
            <a:r>
              <a:rPr lang="en-US" sz="1030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Append a dated history entry</a:t>
            </a:r>
            <a:endParaRPr lang="en-US" sz="1030" dirty="0"/>
          </a:p>
        </p:txBody>
      </p:sp>
      <p:sp>
        <p:nvSpPr>
          <p:cNvPr id="41" name="Text 39"/>
          <p:cNvSpPr txBox="1"/>
          <p:nvPr/>
        </p:nvSpPr>
        <p:spPr>
          <a:xfrm>
            <a:off x="594360" y="6199632"/>
            <a:ext cx="10927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SDD §§1, 4.3 and 5; Technical Specification §§3–5. Transfers keep previousOwner/newOwner/reason and event date.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1449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DATA EXCHANGE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30352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A25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Import, reconcile, export—and recover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96926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browser owns parsing and workbook generation; the import commit uses the API, creates a restore point, writes transactionally and reconciles state.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472184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90" kern="0" dirty="0">
                <a:solidFill>
                  <a:srgbClr val="1449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 / COMMIT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847088"/>
            <a:ext cx="2029968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993392"/>
            <a:ext cx="310896" cy="310896"/>
          </a:xfrm>
          <a:prstGeom prst="ellipse">
            <a:avLst/>
          </a:prstGeom>
          <a:solidFill>
            <a:srgbClr val="1449D6"/>
          </a:solidFill>
          <a:ln w="6350">
            <a:solidFill>
              <a:srgbClr val="1449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6384" y="1997964"/>
            <a:ext cx="310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1975104"/>
            <a:ext cx="1344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 workbook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95528" y="2395728"/>
            <a:ext cx="17190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Operator saves source workbook as tab-delimited TXT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70048" y="2542032"/>
            <a:ext cx="219456" cy="0"/>
          </a:xfrm>
          <a:prstGeom prst="line">
            <a:avLst/>
          </a:prstGeom>
          <a:noFill/>
          <a:ln w="19050">
            <a:solidFill>
              <a:srgbClr val="1449D6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907792" y="1847088"/>
            <a:ext cx="2029968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54096" y="1993392"/>
            <a:ext cx="310896" cy="310896"/>
          </a:xfrm>
          <a:prstGeom prst="ellipse">
            <a:avLst/>
          </a:prstGeom>
          <a:solidFill>
            <a:srgbClr val="1449D6"/>
          </a:solidFill>
          <a:ln w="6350">
            <a:solidFill>
              <a:srgbClr val="1449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054096" y="1997964"/>
            <a:ext cx="310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438144" y="1975104"/>
            <a:ext cx="1344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 parser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063240" y="2395728"/>
            <a:ext cx="17190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 format; strip BOM; normalize multiline headers / dates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937760" y="2542032"/>
            <a:ext cx="219456" cy="0"/>
          </a:xfrm>
          <a:prstGeom prst="line">
            <a:avLst/>
          </a:prstGeom>
          <a:noFill/>
          <a:ln w="19050">
            <a:solidFill>
              <a:srgbClr val="1449D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175504" y="1847088"/>
            <a:ext cx="2029968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21808" y="1993392"/>
            <a:ext cx="310896" cy="310896"/>
          </a:xfrm>
          <a:prstGeom prst="ellipse">
            <a:avLst/>
          </a:prstGeom>
          <a:solidFill>
            <a:srgbClr val="1449D6"/>
          </a:solidFill>
          <a:ln w="6350">
            <a:solidFill>
              <a:srgbClr val="1449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21808" y="1997964"/>
            <a:ext cx="310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705856" y="1975104"/>
            <a:ext cx="1344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Pre-flight preview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330952" y="2395728"/>
            <a:ext cx="17190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records, validation and Merge vs Replace mode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205472" y="2542032"/>
            <a:ext cx="219456" cy="0"/>
          </a:xfrm>
          <a:prstGeom prst="line">
            <a:avLst/>
          </a:prstGeom>
          <a:noFill/>
          <a:ln w="19050">
            <a:solidFill>
              <a:srgbClr val="1449D6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443216" y="1847088"/>
            <a:ext cx="2029968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89520" y="1993392"/>
            <a:ext cx="310896" cy="310896"/>
          </a:xfrm>
          <a:prstGeom prst="ellipse">
            <a:avLst/>
          </a:prstGeom>
          <a:solidFill>
            <a:srgbClr val="1449D6"/>
          </a:solidFill>
          <a:ln w="6350">
            <a:solidFill>
              <a:srgbClr val="1449D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89520" y="1997964"/>
            <a:ext cx="310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973568" y="1975104"/>
            <a:ext cx="1344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 API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598664" y="2395728"/>
            <a:ext cx="17190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/api/exchange/import; create restore snapshot first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473184" y="2542032"/>
            <a:ext cx="219456" cy="0"/>
          </a:xfrm>
          <a:prstGeom prst="line">
            <a:avLst/>
          </a:prstGeom>
          <a:noFill/>
          <a:ln w="19050">
            <a:solidFill>
              <a:srgbClr val="1449D6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710928" y="1847088"/>
            <a:ext cx="2029968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857232" y="1993392"/>
            <a:ext cx="310896" cy="310896"/>
          </a:xfrm>
          <a:prstGeom prst="ellipse">
            <a:avLst/>
          </a:prstGeom>
          <a:solidFill>
            <a:srgbClr val="10B981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857232" y="1997964"/>
            <a:ext cx="310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0241280" y="1975104"/>
            <a:ext cx="1344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Transactional write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9866376" y="2395728"/>
            <a:ext cx="17190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changes and run asset / loan reconciliation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67512" y="3465576"/>
            <a:ext cx="10863072" cy="448056"/>
          </a:xfrm>
          <a:prstGeom prst="roundRect">
            <a:avLst>
              <a:gd name="adj" fmla="val 16327"/>
            </a:avLst>
          </a:prstGeom>
          <a:solidFill>
            <a:srgbClr val="FFF4D9"/>
          </a:solidFill>
          <a:ln w="12700">
            <a:solidFill>
              <a:srgbClr val="F5D58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77824" y="3575304"/>
            <a:ext cx="10433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Rollback path: Revert last import → POST /api/exchange/revert → restore the pre-import snapshot.</a:t>
            </a:r>
            <a:endParaRPr lang="en-US" sz="1040" dirty="0"/>
          </a:p>
        </p:txBody>
      </p:sp>
      <p:sp>
        <p:nvSpPr>
          <p:cNvPr id="37" name="Text 35"/>
          <p:cNvSpPr txBox="1"/>
          <p:nvPr/>
        </p:nvSpPr>
        <p:spPr>
          <a:xfrm>
            <a:off x="658368" y="4215384"/>
            <a:ext cx="1280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90" kern="0" dirty="0">
                <a:solidFill>
                  <a:srgbClr val="1449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76656" y="4544568"/>
            <a:ext cx="333756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59536" y="4681728"/>
            <a:ext cx="2971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 data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841248" y="4965192"/>
            <a:ext cx="3008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/api/exchange/export</a:t>
            </a:r>
            <a:endParaRPr lang="en-US" sz="960" dirty="0"/>
          </a:p>
        </p:txBody>
      </p:sp>
      <p:sp>
        <p:nvSpPr>
          <p:cNvPr id="41" name="Shape 39"/>
          <p:cNvSpPr/>
          <p:nvPr/>
        </p:nvSpPr>
        <p:spPr>
          <a:xfrm>
            <a:off x="4014216" y="4974336"/>
            <a:ext cx="384048" cy="0"/>
          </a:xfrm>
          <a:prstGeom prst="line">
            <a:avLst/>
          </a:prstGeom>
          <a:noFill/>
          <a:ln w="21590">
            <a:solidFill>
              <a:srgbClr val="1449D6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4471416" y="4544568"/>
            <a:ext cx="3337560" cy="859536"/>
          </a:xfrm>
          <a:prstGeom prst="roundRect">
            <a:avLst>
              <a:gd name="adj" fmla="val 8511"/>
            </a:avLst>
          </a:prstGeom>
          <a:solidFill>
            <a:srgbClr val="F1F6FF"/>
          </a:solidFill>
          <a:ln w="11430">
            <a:solidFill>
              <a:srgbClr val="C9D8F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654296" y="4681728"/>
            <a:ext cx="2971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 generator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4636008" y="4965192"/>
            <a:ext cx="3008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Pure JavaScript OpenXML writer</a:t>
            </a:r>
            <a:endParaRPr lang="en-US" sz="960" dirty="0"/>
          </a:p>
        </p:txBody>
      </p:sp>
      <p:sp>
        <p:nvSpPr>
          <p:cNvPr id="45" name="Shape 43"/>
          <p:cNvSpPr/>
          <p:nvPr/>
        </p:nvSpPr>
        <p:spPr>
          <a:xfrm>
            <a:off x="7808976" y="4974336"/>
            <a:ext cx="384048" cy="0"/>
          </a:xfrm>
          <a:prstGeom prst="line">
            <a:avLst/>
          </a:prstGeom>
          <a:noFill/>
          <a:ln w="21590">
            <a:solidFill>
              <a:srgbClr val="1449D6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8266176" y="4544568"/>
            <a:ext cx="333756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449056" y="4681728"/>
            <a:ext cx="2971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XLSX download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8430768" y="4965192"/>
            <a:ext cx="3008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Reference-format workbook</a:t>
            </a:r>
            <a:endParaRPr lang="en-US" sz="960" dirty="0"/>
          </a:p>
        </p:txBody>
      </p:sp>
      <p:sp>
        <p:nvSpPr>
          <p:cNvPr id="49" name="Text 47"/>
          <p:cNvSpPr txBox="1"/>
          <p:nvPr/>
        </p:nvSpPr>
        <p:spPr>
          <a:xfrm>
            <a:off x="685800" y="5760720"/>
            <a:ext cx="10835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Compatibility target: 19-column parity with corporate equipment and IT-loan workbooks.</a:t>
            </a:r>
            <a:endParaRPr lang="en-US" sz="1040" dirty="0"/>
          </a:p>
        </p:txBody>
      </p:sp>
      <p:sp>
        <p:nvSpPr>
          <p:cNvPr id="50" name="Text 48"/>
          <p:cNvSpPr txBox="1"/>
          <p:nvPr/>
        </p:nvSpPr>
        <p:spPr>
          <a:xfrm>
            <a:off x="594360" y="6199632"/>
            <a:ext cx="10927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README; Technical Specification §§6.1–6.2; SDD §6; ExchangePage / server exchange routes described in the source deck.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1449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OPERATIONS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30352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A25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Deployment model and architectural trade-offs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96926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single production command path keeps the install and runtime footprint small; it also centralizes availability and persistence on one host.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81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1449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STARTUP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2084832" cy="1005840"/>
          </a:xfrm>
          <a:prstGeom prst="roundRect">
            <a:avLst>
              <a:gd name="adj" fmla="val 7273"/>
            </a:avLst>
          </a:prstGeom>
          <a:solidFill>
            <a:srgbClr val="0A2547"/>
          </a:solidFill>
          <a:ln w="11430">
            <a:solidFill>
              <a:srgbClr val="0A25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993392"/>
            <a:ext cx="310896" cy="310896"/>
          </a:xfrm>
          <a:prstGeom prst="ellipse">
            <a:avLst/>
          </a:prstGeom>
          <a:solidFill>
            <a:srgbClr val="2F63E7"/>
          </a:solidFill>
          <a:ln w="6350">
            <a:solidFill>
              <a:srgbClr val="2F63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6384" y="1997964"/>
            <a:ext cx="310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98424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npm install</a:t>
            </a:r>
            <a:endParaRPr lang="en-US" sz="111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386584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DCE7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Install dependencies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2724912" y="2340864"/>
            <a:ext cx="228600" cy="0"/>
          </a:xfrm>
          <a:prstGeom prst="line">
            <a:avLst/>
          </a:prstGeom>
          <a:noFill/>
          <a:ln w="21590">
            <a:solidFill>
              <a:srgbClr val="1449D6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971800" y="1828800"/>
            <a:ext cx="2084832" cy="1005840"/>
          </a:xfrm>
          <a:prstGeom prst="roundRect">
            <a:avLst>
              <a:gd name="adj" fmla="val 7273"/>
            </a:avLst>
          </a:prstGeom>
          <a:solidFill>
            <a:srgbClr val="0A2547"/>
          </a:solidFill>
          <a:ln w="11430">
            <a:solidFill>
              <a:srgbClr val="0A254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18104" y="1993392"/>
            <a:ext cx="310896" cy="310896"/>
          </a:xfrm>
          <a:prstGeom prst="ellipse">
            <a:avLst/>
          </a:prstGeom>
          <a:solidFill>
            <a:srgbClr val="2F63E7"/>
          </a:solidFill>
          <a:ln w="6350">
            <a:solidFill>
              <a:srgbClr val="2F63E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118104" y="1997964"/>
            <a:ext cx="310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198424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npm run build</a:t>
            </a:r>
            <a:endParaRPr lang="en-US" sz="1110" dirty="0"/>
          </a:p>
        </p:txBody>
      </p:sp>
      <p:sp>
        <p:nvSpPr>
          <p:cNvPr id="16" name="Text 14"/>
          <p:cNvSpPr txBox="1"/>
          <p:nvPr/>
        </p:nvSpPr>
        <p:spPr>
          <a:xfrm>
            <a:off x="3136392" y="2386584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DCE7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Emit optimized dist/ SPA bundle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5056632" y="2340864"/>
            <a:ext cx="228600" cy="0"/>
          </a:xfrm>
          <a:prstGeom prst="line">
            <a:avLst/>
          </a:prstGeom>
          <a:noFill/>
          <a:ln w="21590">
            <a:solidFill>
              <a:srgbClr val="1449D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303520" y="1828800"/>
            <a:ext cx="2084832" cy="1005840"/>
          </a:xfrm>
          <a:prstGeom prst="roundRect">
            <a:avLst>
              <a:gd name="adj" fmla="val 7273"/>
            </a:avLst>
          </a:prstGeom>
          <a:solidFill>
            <a:srgbClr val="0A2547"/>
          </a:solidFill>
          <a:ln w="11430">
            <a:solidFill>
              <a:srgbClr val="0A254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49824" y="1993392"/>
            <a:ext cx="310896" cy="310896"/>
          </a:xfrm>
          <a:prstGeom prst="ellipse">
            <a:avLst/>
          </a:prstGeom>
          <a:solidFill>
            <a:srgbClr val="2F63E7"/>
          </a:solidFill>
          <a:ln w="6350">
            <a:solidFill>
              <a:srgbClr val="2F63E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49824" y="1997964"/>
            <a:ext cx="310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852160" y="198424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npm start</a:t>
            </a:r>
            <a:endParaRPr lang="en-US" sz="1110" dirty="0"/>
          </a:p>
        </p:txBody>
      </p:sp>
      <p:sp>
        <p:nvSpPr>
          <p:cNvPr id="22" name="Text 20"/>
          <p:cNvSpPr txBox="1"/>
          <p:nvPr/>
        </p:nvSpPr>
        <p:spPr>
          <a:xfrm>
            <a:off x="5468112" y="2386584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DCE7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 UI + API on port 5000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7790688" y="1828800"/>
            <a:ext cx="3730752" cy="1005840"/>
          </a:xfrm>
          <a:prstGeom prst="roundRect">
            <a:avLst>
              <a:gd name="adj" fmla="val 7273"/>
            </a:avLst>
          </a:prstGeom>
          <a:solidFill>
            <a:srgbClr val="EAF8F1"/>
          </a:solidFill>
          <a:ln w="11430">
            <a:solidFill>
              <a:srgbClr val="BCE8D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10144" y="1993392"/>
            <a:ext cx="3264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87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/ HEALTH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010144" y="2322576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http://&lt;server-ip&gt;:5000  •  /api/health</a:t>
            </a:r>
            <a:endParaRPr lang="en-US" sz="970" dirty="0"/>
          </a:p>
        </p:txBody>
      </p:sp>
      <p:sp>
        <p:nvSpPr>
          <p:cNvPr id="26" name="Text 24"/>
          <p:cNvSpPr txBox="1"/>
          <p:nvPr/>
        </p:nvSpPr>
        <p:spPr>
          <a:xfrm>
            <a:off x="658368" y="317296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1449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DEVELOPMENT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" y="3483864"/>
            <a:ext cx="3182112" cy="667512"/>
          </a:xfrm>
          <a:prstGeom prst="roundRect">
            <a:avLst>
              <a:gd name="adj" fmla="val 10959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32104" y="3602736"/>
            <a:ext cx="1645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npm run dev:all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32104" y="3840480"/>
            <a:ext cx="2734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:5000  +  Vite HMR :5173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4069080" y="317296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1449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TRADE-OFFS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069080" y="3483864"/>
            <a:ext cx="350215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215384" y="3575304"/>
            <a:ext cx="3182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Embedded SQLite</a:t>
            </a:r>
            <a:endParaRPr lang="en-US" sz="1030" dirty="0"/>
          </a:p>
        </p:txBody>
      </p:sp>
      <p:sp>
        <p:nvSpPr>
          <p:cNvPr id="33" name="Text 31"/>
          <p:cNvSpPr txBox="1"/>
          <p:nvPr/>
        </p:nvSpPr>
        <p:spPr>
          <a:xfrm>
            <a:off x="4215384" y="3813048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separate DB service; host-level backup / recovery is important.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7818120" y="3483864"/>
            <a:ext cx="350215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964424" y="3575304"/>
            <a:ext cx="3182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Client-side XLSX</a:t>
            </a:r>
            <a:endParaRPr lang="en-US" sz="1030" dirty="0"/>
          </a:p>
        </p:txBody>
      </p:sp>
      <p:sp>
        <p:nvSpPr>
          <p:cNvPr id="36" name="Text 34"/>
          <p:cNvSpPr txBox="1"/>
          <p:nvPr/>
        </p:nvSpPr>
        <p:spPr>
          <a:xfrm>
            <a:off x="7964424" y="3813048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 and dependency-light; large files consume workstation resources.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4069080" y="4379976"/>
            <a:ext cx="350215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215384" y="4471416"/>
            <a:ext cx="3182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LocalStorage cache</a:t>
            </a:r>
            <a:endParaRPr lang="en-US" sz="1030" dirty="0"/>
          </a:p>
        </p:txBody>
      </p:sp>
      <p:sp>
        <p:nvSpPr>
          <p:cNvPr id="39" name="Text 37"/>
          <p:cNvSpPr txBox="1"/>
          <p:nvPr/>
        </p:nvSpPr>
        <p:spPr>
          <a:xfrm>
            <a:off x="4215384" y="4709160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startup / resilience; must be clearly separated from authoritative server state.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7818120" y="4379976"/>
            <a:ext cx="350215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964424" y="4471416"/>
            <a:ext cx="3182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external assets</a:t>
            </a:r>
            <a:endParaRPr lang="en-US" sz="1030" dirty="0"/>
          </a:p>
        </p:txBody>
      </p:sp>
      <p:sp>
        <p:nvSpPr>
          <p:cNvPr id="42" name="Text 40"/>
          <p:cNvSpPr txBox="1"/>
          <p:nvPr/>
        </p:nvSpPr>
        <p:spPr>
          <a:xfrm>
            <a:off x="7964424" y="4709160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 without internet; typographic customization is constrained to system fonts.</a:t>
            </a:r>
            <a:endParaRPr lang="en-US" sz="880" dirty="0"/>
          </a:p>
        </p:txBody>
      </p:sp>
      <p:sp>
        <p:nvSpPr>
          <p:cNvPr id="43" name="Text 41"/>
          <p:cNvSpPr txBox="1"/>
          <p:nvPr/>
        </p:nvSpPr>
        <p:spPr>
          <a:xfrm>
            <a:off x="658368" y="5897880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prerequisite: Node.js 22+ for native node:sqlite. Vite is build-time tooling, not a production service.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594360" y="6199632"/>
            <a:ext cx="10927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README; Technical Specification §1.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1449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/ REVIEW NOTES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30352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A25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Documentation alignment and design questions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96926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merged view combines the production deployment description with the SDD’s client modules, rules and workflows. One persistence detail needs a single source of truth.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21792" y="1517904"/>
            <a:ext cx="535838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1709928"/>
            <a:ext cx="1298448" cy="246888"/>
          </a:xfrm>
          <a:prstGeom prst="roundRect">
            <a:avLst>
              <a:gd name="adj" fmla="val 29630"/>
            </a:avLst>
          </a:prstGeom>
          <a:solidFill>
            <a:srgbClr val="E8F7EF"/>
          </a:solidFill>
          <a:ln w="12700">
            <a:solidFill>
              <a:srgbClr val="E8F7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77824" y="1719072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74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 VIEW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850392" y="2066544"/>
            <a:ext cx="4736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README + Technical Specification §1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50392" y="2404872"/>
            <a:ext cx="470001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multiple workstations calling the Express API on :5000, which owns the central node:sqlite database in WAL mode at server/data/inventory.db.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6199632" y="1517904"/>
            <a:ext cx="535838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19088" y="1709928"/>
            <a:ext cx="1417320" cy="246888"/>
          </a:xfrm>
          <a:prstGeom prst="roundRect">
            <a:avLst>
              <a:gd name="adj" fmla="val 29630"/>
            </a:avLst>
          </a:prstGeom>
          <a:solidFill>
            <a:srgbClr val="FFF4D9"/>
          </a:solidFill>
          <a:ln w="12700">
            <a:solidFill>
              <a:srgbClr val="FFF4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55664" y="1719072"/>
            <a:ext cx="1344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CLIENT-CACHE VIEW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6419088" y="2066544"/>
            <a:ext cx="4736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SDD §3 + Technical Specification §2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19088" y="2404872"/>
            <a:ext cx="47091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Also describe lib/db.js and browser LocalStorage / IndexedDB, including local snapshots and cache-based resilience. That language can be read as local-first persistence.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640080" y="3749040"/>
            <a:ext cx="10917936" cy="859536"/>
          </a:xfrm>
          <a:prstGeom prst="roundRect">
            <a:avLst>
              <a:gd name="adj" fmla="val 8511"/>
            </a:avLst>
          </a:prstGeom>
          <a:solidFill>
            <a:srgbClr val="FFF4D9"/>
          </a:solidFill>
          <a:ln w="11430">
            <a:solidFill>
              <a:srgbClr val="F5D58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0392" y="3840480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 used in this presentation</a:t>
            </a:r>
            <a:endParaRPr lang="en-US" sz="1080" dirty="0"/>
          </a:p>
        </p:txBody>
      </p:sp>
      <p:sp>
        <p:nvSpPr>
          <p:cNvPr id="17" name="Text 15"/>
          <p:cNvSpPr txBox="1"/>
          <p:nvPr/>
        </p:nvSpPr>
        <p:spPr>
          <a:xfrm>
            <a:off x="850392" y="4096512"/>
            <a:ext cx="10287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 SQLite is the shared runtime source of truth; LocalStorage is shown as a browser cache / backup layer. Confirm snapshot location and reconciliation persistence against current code before changing implementation or operational runbooks.</a:t>
            </a:r>
            <a:endParaRPr lang="en-US" sz="96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491032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1449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DOCUMENTS</a:t>
            </a:r>
            <a:endParaRPr lang="en-US" sz="1000" dirty="0"/>
          </a:p>
        </p:txBody>
      </p:sp>
      <p:sp>
        <p:nvSpPr>
          <p:cNvPr id="19" name="Text 17">
            <a:hlinkClick r:id="rId1" tooltip=""/>
          </p:cNvPr>
          <p:cNvSpPr txBox="1"/>
          <p:nvPr/>
        </p:nvSpPr>
        <p:spPr>
          <a:xfrm>
            <a:off x="676656" y="524865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u="sng" dirty="0">
                <a:solidFill>
                  <a:srgbClr val="0A2547"/>
                </a:solidFill>
                <a:uFill>
                  <a:solidFill>
                    <a:srgbClr val="0A2547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Repository README</a:t>
            </a:r>
            <a:endParaRPr lang="en-US" sz="1050" dirty="0"/>
          </a:p>
        </p:txBody>
      </p:sp>
      <p:sp>
        <p:nvSpPr>
          <p:cNvPr id="20" name="Text 18">
            <a:hlinkClick r:id="rId2" tooltip=""/>
          </p:cNvPr>
          <p:cNvSpPr txBox="1"/>
          <p:nvPr/>
        </p:nvSpPr>
        <p:spPr>
          <a:xfrm>
            <a:off x="3017520" y="5248656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u="sng" dirty="0">
                <a:solidFill>
                  <a:srgbClr val="0A2547"/>
                </a:solidFill>
                <a:uFill>
                  <a:solidFill>
                    <a:srgbClr val="0A2547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Software Design Document</a:t>
            </a:r>
            <a:endParaRPr lang="en-US" sz="1050" dirty="0"/>
          </a:p>
        </p:txBody>
      </p:sp>
      <p:sp>
        <p:nvSpPr>
          <p:cNvPr id="21" name="Text 19">
            <a:hlinkClick r:id="rId3" tooltip=""/>
          </p:cNvPr>
          <p:cNvSpPr txBox="1"/>
          <p:nvPr/>
        </p:nvSpPr>
        <p:spPr>
          <a:xfrm>
            <a:off x="6071616" y="5248656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u="sng" dirty="0">
                <a:solidFill>
                  <a:srgbClr val="0A2547"/>
                </a:solidFill>
                <a:uFill>
                  <a:solidFill>
                    <a:srgbClr val="0A2547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Technical Specification</a:t>
            </a:r>
            <a:endParaRPr lang="en-US" sz="1050" dirty="0"/>
          </a:p>
        </p:txBody>
      </p:sp>
      <p:sp>
        <p:nvSpPr>
          <p:cNvPr id="22" name="Text 20">
            <a:hlinkClick r:id="rId4" tooltip=""/>
          </p:cNvPr>
          <p:cNvSpPr txBox="1"/>
          <p:nvPr/>
        </p:nvSpPr>
        <p:spPr>
          <a:xfrm>
            <a:off x="8878824" y="524865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u="sng" dirty="0">
                <a:solidFill>
                  <a:srgbClr val="0A2547"/>
                </a:solidFill>
                <a:uFill>
                  <a:solidFill>
                    <a:srgbClr val="0A2547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Patch Notes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5897880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0A2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takeaway: browser workflows + strict state rules + one intranet API boundary + durable asset and custody history.</a:t>
            </a:r>
            <a:endParaRPr lang="en-US" sz="104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6199632"/>
            <a:ext cx="10927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by integrating both supplied PPTX decks and cross-checking the repository documentation available on 22 Oct 2026.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StarPlus Energy Asset Management System — Architecture</dc:title>
  <dc:subject>Integrated SPE-AMS architecture and state lifecycle review</dc:subject>
  <dc:creator>OpenAI</dc:creator>
  <cp:lastModifiedBy>OpenAI</cp:lastModifiedBy>
  <cp:revision>1</cp:revision>
  <dcterms:created xsi:type="dcterms:W3CDTF">2026-10-22T14:13:43Z</dcterms:created>
  <dcterms:modified xsi:type="dcterms:W3CDTF">2026-10-22T14:13:43Z</dcterms:modified>
</cp:coreProperties>
</file>